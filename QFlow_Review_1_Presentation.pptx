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960120"/>
            <a:ext cx="91440" cy="3657600"/>
          </a:xfrm>
          <a:prstGeom prst="rect">
            <a:avLst/>
          </a:prstGeom>
          <a:solidFill>
            <a:srgbClr val="374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143000"/>
            <a:ext cx="8229600" cy="6400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5000" b="1">
                <a:solidFill>
                  <a:srgbClr val="374FAA"/>
                </a:solidFill>
                <a:latin typeface="Aptos"/>
              </a:defRPr>
            </a:pPr>
            <a:r>
              <a:t>QFlow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874519"/>
            <a:ext cx="9875520" cy="91440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2700" b="1">
                <a:solidFill>
                  <a:srgbClr val="1C2026"/>
                </a:solidFill>
                <a:latin typeface="Aptos"/>
              </a:defRPr>
            </a:pPr>
            <a:r>
              <a:t>AI-Powered Smart Token &amp; Queue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971800"/>
            <a:ext cx="7315200" cy="36576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800" b="0">
                <a:solidFill>
                  <a:srgbClr val="5F6670"/>
                </a:solidFill>
                <a:latin typeface="Aptos"/>
              </a:defRPr>
            </a:pPr>
            <a:r>
              <a:t>Review 1  |  Full Stack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4572000"/>
            <a:ext cx="7315200" cy="32004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700" b="1">
                <a:solidFill>
                  <a:srgbClr val="1C2026"/>
                </a:solidFill>
                <a:latin typeface="Aptos"/>
              </a:defRPr>
            </a:pPr>
            <a:r>
              <a:t>Presented by: Adithya P K  •  310624243009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983480"/>
            <a:ext cx="7315200" cy="27432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500" b="0">
                <a:solidFill>
                  <a:srgbClr val="5F6670"/>
                </a:solidFill>
                <a:latin typeface="Aptos"/>
              </a:defRPr>
            </a:pPr>
            <a:r>
              <a:t>Easwari Engineering College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349240"/>
            <a:ext cx="8229600" cy="27432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400" b="0">
                <a:solidFill>
                  <a:srgbClr val="5F6670"/>
                </a:solidFill>
                <a:latin typeface="Aptos"/>
              </a:defRPr>
            </a:pPr>
            <a:r>
              <a:t>Guide: Ms. D S K Harshitha  •  Technical Trainer, AI &amp; 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73152" cy="566928"/>
          </a:xfrm>
          <a:prstGeom prst="rect">
            <a:avLst/>
          </a:prstGeom>
          <a:solidFill>
            <a:srgbClr val="374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10896"/>
            <a:ext cx="10058400" cy="6400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2800" b="1">
                <a:solidFill>
                  <a:srgbClr val="1C2026"/>
                </a:solidFill>
                <a:latin typeface="Aptos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29768"/>
            <a:ext cx="502920" cy="27432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r">
              <a:defRPr sz="1100" b="1">
                <a:solidFill>
                  <a:srgbClr val="5F667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37376"/>
            <a:ext cx="10515600" cy="1828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900" b="0">
                <a:solidFill>
                  <a:srgbClr val="5F6670"/>
                </a:solidFill>
                <a:latin typeface="Aptos"/>
              </a:defRPr>
            </a:pPr>
            <a:r>
              <a:t>QFlow  •  Review 1  •  MERN Stack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241280" cy="484632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1C2026"/>
                </a:solidFill>
                <a:latin typeface="Aptos"/>
              </a:defRPr>
            </a:pPr>
            <a:r>
              <a:t>• Scope of review</a:t>
            </a:r>
          </a:p>
          <a:p>
            <a:pPr>
              <a:spcAft>
                <a:spcPts val="500"/>
              </a:spcAft>
              <a:defRPr sz="1800">
                <a:solidFill>
                  <a:srgbClr val="1C2026"/>
                </a:solidFill>
                <a:latin typeface="Aptos"/>
              </a:defRPr>
            </a:pPr>
            <a:r>
              <a:t>• Requirements</a:t>
            </a:r>
          </a:p>
          <a:p>
            <a:pPr>
              <a:spcAft>
                <a:spcPts val="500"/>
              </a:spcAft>
              <a:defRPr sz="1800">
                <a:solidFill>
                  <a:srgbClr val="1C2026"/>
                </a:solidFill>
                <a:latin typeface="Aptos"/>
              </a:defRPr>
            </a:pPr>
            <a:r>
              <a:t>• System architecture</a:t>
            </a:r>
          </a:p>
          <a:p>
            <a:pPr>
              <a:spcAft>
                <a:spcPts val="500"/>
              </a:spcAft>
              <a:defRPr sz="1800">
                <a:solidFill>
                  <a:srgbClr val="1C2026"/>
                </a:solidFill>
                <a:latin typeface="Aptos"/>
              </a:defRPr>
            </a:pPr>
            <a:r>
              <a:t>• Use case &amp; database design</a:t>
            </a:r>
          </a:p>
          <a:p>
            <a:pPr>
              <a:spcAft>
                <a:spcPts val="500"/>
              </a:spcAft>
              <a:defRPr sz="1800">
                <a:solidFill>
                  <a:srgbClr val="1C2026"/>
                </a:solidFill>
                <a:latin typeface="Aptos"/>
              </a:defRPr>
            </a:pPr>
            <a:r>
              <a:t>• Modules and technology stack</a:t>
            </a:r>
          </a:p>
          <a:p>
            <a:pPr>
              <a:spcAft>
                <a:spcPts val="500"/>
              </a:spcAft>
              <a:defRPr sz="1800">
                <a:solidFill>
                  <a:srgbClr val="1C2026"/>
                </a:solidFill>
                <a:latin typeface="Aptos"/>
              </a:defRPr>
            </a:pPr>
            <a:r>
              <a:t>• UI, frontend &amp; backend</a:t>
            </a:r>
          </a:p>
          <a:p>
            <a:pPr>
              <a:spcAft>
                <a:spcPts val="500"/>
              </a:spcAft>
              <a:defRPr sz="1800">
                <a:solidFill>
                  <a:srgbClr val="1C2026"/>
                </a:solidFill>
                <a:latin typeface="Aptos"/>
              </a:defRPr>
            </a:pPr>
            <a:r>
              <a:t>• Database &amp; APIs</a:t>
            </a:r>
          </a:p>
          <a:p>
            <a:pPr>
              <a:spcAft>
                <a:spcPts val="500"/>
              </a:spcAft>
              <a:defRPr sz="1800">
                <a:solidFill>
                  <a:srgbClr val="1C2026"/>
                </a:solidFill>
                <a:latin typeface="Aptos"/>
              </a:defRPr>
            </a:pPr>
            <a:r>
              <a:t>• Implementation status</a:t>
            </a:r>
          </a:p>
          <a:p>
            <a:pPr>
              <a:spcAft>
                <a:spcPts val="500"/>
              </a:spcAft>
              <a:defRPr sz="1800">
                <a:solidFill>
                  <a:srgbClr val="1C2026"/>
                </a:solidFill>
                <a:latin typeface="Aptos"/>
              </a:defRPr>
            </a:pPr>
            <a:r>
              <a:t>• Screenshots</a:t>
            </a:r>
          </a:p>
          <a:p>
            <a:pPr>
              <a:spcAft>
                <a:spcPts val="500"/>
              </a:spcAft>
              <a:defRPr sz="1800">
                <a:solidFill>
                  <a:srgbClr val="1C2026"/>
                </a:solidFill>
                <a:latin typeface="Aptos"/>
              </a:defRPr>
            </a:pPr>
            <a:r>
              <a:t>• Challenges, next steps &amp;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73152" cy="566928"/>
          </a:xfrm>
          <a:prstGeom prst="rect">
            <a:avLst/>
          </a:prstGeom>
          <a:solidFill>
            <a:srgbClr val="374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10896"/>
            <a:ext cx="10058400" cy="6400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2800" b="1">
                <a:solidFill>
                  <a:srgbClr val="1C2026"/>
                </a:solidFill>
                <a:latin typeface="Aptos"/>
              </a:defRPr>
            </a:pPr>
            <a:r>
              <a:t>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29768"/>
            <a:ext cx="502920" cy="27432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r">
              <a:defRPr sz="1100" b="1">
                <a:solidFill>
                  <a:srgbClr val="5F667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37376"/>
            <a:ext cx="10515600" cy="1828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900" b="0">
                <a:solidFill>
                  <a:srgbClr val="5F6670"/>
                </a:solidFill>
                <a:latin typeface="Aptos"/>
              </a:defRPr>
            </a:pPr>
            <a:r>
              <a:t>QFlow  •  Review 1  •  MERN Stack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88720"/>
            <a:ext cx="530352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53312"/>
            <a:ext cx="4846320" cy="32004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700" b="1">
                <a:solidFill>
                  <a:srgbClr val="374FAA"/>
                </a:solidFill>
                <a:latin typeface="Aptos"/>
              </a:defRPr>
            </a:pPr>
            <a:r>
              <a:t>Functional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846320" cy="393192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>
              <a:spcAft>
                <a:spcPts val="500"/>
              </a:spcAft>
              <a:defRPr sz="1450">
                <a:solidFill>
                  <a:srgbClr val="1C2026"/>
                </a:solidFill>
                <a:latin typeface="Aptos"/>
              </a:defRPr>
            </a:pPr>
            <a:r>
              <a:t>• QR-based customer access</a:t>
            </a:r>
          </a:p>
          <a:p>
            <a:pPr>
              <a:spcAft>
                <a:spcPts val="500"/>
              </a:spcAft>
              <a:defRPr sz="1450">
                <a:solidFill>
                  <a:srgbClr val="1C2026"/>
                </a:solidFill>
                <a:latin typeface="Aptos"/>
              </a:defRPr>
            </a:pPr>
            <a:r>
              <a:t>• Name, phone and service selection</a:t>
            </a:r>
          </a:p>
          <a:p>
            <a:pPr>
              <a:spcAft>
                <a:spcPts val="500"/>
              </a:spcAft>
              <a:defRPr sz="1450">
                <a:solidFill>
                  <a:srgbClr val="1C2026"/>
                </a:solidFill>
                <a:latin typeface="Aptos"/>
              </a:defRPr>
            </a:pPr>
            <a:r>
              <a:t>• Sequential token generation</a:t>
            </a:r>
          </a:p>
          <a:p>
            <a:pPr>
              <a:spcAft>
                <a:spcPts val="500"/>
              </a:spcAft>
              <a:defRPr sz="1450">
                <a:solidFill>
                  <a:srgbClr val="1C2026"/>
                </a:solidFill>
                <a:latin typeface="Aptos"/>
              </a:defRPr>
            </a:pPr>
            <a:r>
              <a:t>• Live token status and waiting time</a:t>
            </a:r>
          </a:p>
          <a:p>
            <a:pPr>
              <a:spcAft>
                <a:spcPts val="500"/>
              </a:spcAft>
              <a:defRPr sz="1450">
                <a:solidFill>
                  <a:srgbClr val="1C2026"/>
                </a:solidFill>
                <a:latin typeface="Aptos"/>
              </a:defRPr>
            </a:pPr>
            <a:r>
              <a:t>• Call, Start, Complete, Skip, Transfer</a:t>
            </a:r>
          </a:p>
          <a:p>
            <a:pPr>
              <a:spcAft>
                <a:spcPts val="500"/>
              </a:spcAft>
              <a:defRPr sz="1450">
                <a:solidFill>
                  <a:srgbClr val="1C2026"/>
                </a:solidFill>
                <a:latin typeface="Aptos"/>
              </a:defRPr>
            </a:pPr>
            <a:r>
              <a:t>• Dynamic counters and services</a:t>
            </a:r>
          </a:p>
          <a:p>
            <a:pPr>
              <a:spcAft>
                <a:spcPts val="500"/>
              </a:spcAft>
              <a:defRPr sz="1450">
                <a:solidFill>
                  <a:srgbClr val="1C2026"/>
                </a:solidFill>
                <a:latin typeface="Aptos"/>
              </a:defRPr>
            </a:pPr>
            <a:r>
              <a:t>• Live analytics</a:t>
            </a:r>
          </a:p>
          <a:p>
            <a:pPr>
              <a:spcAft>
                <a:spcPts val="500"/>
              </a:spcAft>
              <a:defRPr sz="1450">
                <a:solidFill>
                  <a:srgbClr val="1C2026"/>
                </a:solidFill>
                <a:latin typeface="Aptos"/>
              </a:defRPr>
            </a:pPr>
            <a:r>
              <a:t>• AI duration and counter recommendations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188720"/>
            <a:ext cx="530352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53312"/>
            <a:ext cx="4846320" cy="32004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700" b="1">
                <a:solidFill>
                  <a:srgbClr val="374FAA"/>
                </a:solidFill>
                <a:latin typeface="Aptos"/>
              </a:defRPr>
            </a:pPr>
            <a:r>
              <a:t>Non-Functional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4846320" cy="393192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>
              <a:spcAft>
                <a:spcPts val="500"/>
              </a:spcAft>
              <a:defRPr sz="1450">
                <a:solidFill>
                  <a:srgbClr val="1C2026"/>
                </a:solidFill>
                <a:latin typeface="Aptos"/>
              </a:defRPr>
            </a:pPr>
            <a:r>
              <a:t>• Mobile-first customer UI</a:t>
            </a:r>
          </a:p>
          <a:p>
            <a:pPr>
              <a:spcAft>
                <a:spcPts val="500"/>
              </a:spcAft>
              <a:defRPr sz="1450">
                <a:solidFill>
                  <a:srgbClr val="1C2026"/>
                </a:solidFill>
                <a:latin typeface="Aptos"/>
              </a:defRPr>
            </a:pPr>
            <a:r>
              <a:t>• Responsive staff dashboard</a:t>
            </a:r>
          </a:p>
          <a:p>
            <a:pPr>
              <a:spcAft>
                <a:spcPts val="500"/>
              </a:spcAft>
              <a:defRPr sz="1450">
                <a:solidFill>
                  <a:srgbClr val="1C2026"/>
                </a:solidFill>
                <a:latin typeface="Aptos"/>
              </a:defRPr>
            </a:pPr>
            <a:r>
              <a:t>• Sub-second Socket.IO updates</a:t>
            </a:r>
          </a:p>
          <a:p>
            <a:pPr>
              <a:spcAft>
                <a:spcPts val="500"/>
              </a:spcAft>
              <a:defRPr sz="1450">
                <a:solidFill>
                  <a:srgbClr val="1C2026"/>
                </a:solidFill>
                <a:latin typeface="Aptos"/>
              </a:defRPr>
            </a:pPr>
            <a:r>
              <a:t>• MongoDB as source of truth</a:t>
            </a:r>
          </a:p>
          <a:p>
            <a:pPr>
              <a:spcAft>
                <a:spcPts val="500"/>
              </a:spcAft>
              <a:defRPr sz="1450">
                <a:solidFill>
                  <a:srgbClr val="1C2026"/>
                </a:solidFill>
                <a:latin typeface="Aptos"/>
              </a:defRPr>
            </a:pPr>
            <a:r>
              <a:t>• JWT + bcrypt security</a:t>
            </a:r>
          </a:p>
          <a:p>
            <a:pPr>
              <a:spcAft>
                <a:spcPts val="500"/>
              </a:spcAft>
              <a:defRPr sz="1450">
                <a:solidFill>
                  <a:srgbClr val="1C2026"/>
                </a:solidFill>
                <a:latin typeface="Aptos"/>
              </a:defRPr>
            </a:pPr>
            <a:r>
              <a:t>• Local Wi-Fi operation</a:t>
            </a:r>
          </a:p>
          <a:p>
            <a:pPr>
              <a:spcAft>
                <a:spcPts val="500"/>
              </a:spcAft>
              <a:defRPr sz="1450">
                <a:solidFill>
                  <a:srgbClr val="1C2026"/>
                </a:solidFill>
                <a:latin typeface="Aptos"/>
              </a:defRPr>
            </a:pPr>
            <a:r>
              <a:t>• Reliable database-first updates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73152" cy="566928"/>
          </a:xfrm>
          <a:prstGeom prst="rect">
            <a:avLst/>
          </a:prstGeom>
          <a:solidFill>
            <a:srgbClr val="374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10896"/>
            <a:ext cx="10058400" cy="6400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2800" b="1">
                <a:solidFill>
                  <a:srgbClr val="1C2026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29768"/>
            <a:ext cx="502920" cy="27432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r">
              <a:defRPr sz="1100" b="1">
                <a:solidFill>
                  <a:srgbClr val="5F667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37376"/>
            <a:ext cx="10515600" cy="1828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900" b="0">
                <a:solidFill>
                  <a:srgbClr val="5F6670"/>
                </a:solidFill>
                <a:latin typeface="Aptos"/>
              </a:defRPr>
            </a:pPr>
            <a:r>
              <a:t>QFlow  •  Review 1  •  MERN Stack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16916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374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72768"/>
            <a:ext cx="1600200" cy="4114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ctr">
              <a:defRPr sz="1300" b="1">
                <a:solidFill>
                  <a:srgbClr val="1C2026"/>
                </a:solidFill>
                <a:latin typeface="Aptos"/>
              </a:defRPr>
            </a:pPr>
            <a:r>
              <a:t>Customer</a:t>
            </a:r>
            <a:br/>
            <a:r>
              <a:t>Phone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286000" y="1664208"/>
            <a:ext cx="365760" cy="274320"/>
          </a:xfrm>
          <a:prstGeom prst="rightArrow">
            <a:avLst/>
          </a:prstGeom>
          <a:solidFill>
            <a:srgbClr val="374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88920" y="1417320"/>
            <a:ext cx="16916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374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39" y="1572768"/>
            <a:ext cx="1600200" cy="4114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ctr">
              <a:defRPr sz="1300" b="1">
                <a:solidFill>
                  <a:srgbClr val="1C2026"/>
                </a:solidFill>
                <a:latin typeface="Aptos"/>
              </a:defRPr>
            </a:pPr>
            <a:r>
              <a:t>React 19</a:t>
            </a:r>
            <a:br/>
            <a:r>
              <a:t>+ Vite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526279" y="1664208"/>
            <a:ext cx="365760" cy="274320"/>
          </a:xfrm>
          <a:prstGeom prst="rightArrow">
            <a:avLst/>
          </a:prstGeom>
          <a:solidFill>
            <a:srgbClr val="374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0" y="1417320"/>
            <a:ext cx="16916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374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20" y="1572768"/>
            <a:ext cx="1600200" cy="4114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ctr">
              <a:defRPr sz="1300" b="1">
                <a:solidFill>
                  <a:srgbClr val="1C2026"/>
                </a:solidFill>
                <a:latin typeface="Aptos"/>
              </a:defRPr>
            </a:pPr>
            <a:r>
              <a:t>Node +</a:t>
            </a:r>
            <a:br/>
            <a:r>
              <a:t>Express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766560" y="1664208"/>
            <a:ext cx="365760" cy="274320"/>
          </a:xfrm>
          <a:prstGeom prst="rightArrow">
            <a:avLst/>
          </a:prstGeom>
          <a:solidFill>
            <a:srgbClr val="374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269480" y="1417320"/>
            <a:ext cx="16916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374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1572768"/>
            <a:ext cx="1600200" cy="4114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ctr">
              <a:defRPr sz="1300" b="1">
                <a:solidFill>
                  <a:srgbClr val="1C2026"/>
                </a:solidFill>
                <a:latin typeface="Aptos"/>
              </a:defRPr>
            </a:pPr>
            <a:r>
              <a:t>MongoDB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006840" y="1664208"/>
            <a:ext cx="365760" cy="274320"/>
          </a:xfrm>
          <a:prstGeom prst="rightArrow">
            <a:avLst/>
          </a:prstGeom>
          <a:solidFill>
            <a:srgbClr val="374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464040" y="1417320"/>
            <a:ext cx="16916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374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0" y="1572768"/>
            <a:ext cx="1600200" cy="4114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ctr">
              <a:defRPr sz="1300" b="1">
                <a:solidFill>
                  <a:srgbClr val="1C2026"/>
                </a:solidFill>
                <a:latin typeface="Aptos"/>
              </a:defRPr>
            </a:pPr>
            <a:r>
              <a:t>Staff/Admin</a:t>
            </a:r>
            <a:br/>
            <a:r>
              <a:t>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2560320"/>
            <a:ext cx="10332720" cy="32004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ctr">
              <a:defRPr sz="1800" b="1">
                <a:solidFill>
                  <a:srgbClr val="374FAA"/>
                </a:solidFill>
                <a:latin typeface="Aptos"/>
              </a:defRPr>
            </a:pPr>
            <a:r>
              <a:t>Axios REST API  ↔  Express  |  Socket.IO for live updates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200400"/>
            <a:ext cx="52578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364992"/>
            <a:ext cx="4800600" cy="32004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700" b="1">
                <a:solidFill>
                  <a:srgbClr val="374FAA"/>
                </a:solidFill>
                <a:latin typeface="Aptos"/>
              </a:defRPr>
            </a:pPr>
            <a:r>
              <a:t>AI / Queue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840480"/>
            <a:ext cx="4800600" cy="1417319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>
              <a:spcAft>
                <a:spcPts val="500"/>
              </a:spcAft>
              <a:defRPr sz="1450">
                <a:solidFill>
                  <a:srgbClr val="1C2026"/>
                </a:solidFill>
                <a:latin typeface="Aptos"/>
              </a:defRPr>
            </a:pPr>
            <a:r>
              <a:t>• 500-record synthetic dataset</a:t>
            </a:r>
          </a:p>
          <a:p>
            <a:pPr>
              <a:spcAft>
                <a:spcPts val="500"/>
              </a:spcAft>
              <a:defRPr sz="1450">
                <a:solidFill>
                  <a:srgbClr val="1C2026"/>
                </a:solidFill>
                <a:latin typeface="Aptos"/>
              </a:defRPr>
            </a:pPr>
            <a:r>
              <a:t>• Duration and wait-time estimation</a:t>
            </a:r>
          </a:p>
          <a:p>
            <a:pPr>
              <a:spcAft>
                <a:spcPts val="500"/>
              </a:spcAft>
              <a:defRPr sz="1450">
                <a:solidFill>
                  <a:srgbClr val="1C2026"/>
                </a:solidFill>
                <a:latin typeface="Aptos"/>
              </a:defRPr>
            </a:pPr>
            <a:r>
              <a:t>• Counter workload recommendation</a:t>
            </a:r>
          </a:p>
          <a:p>
            <a:pPr>
              <a:spcAft>
                <a:spcPts val="500"/>
              </a:spcAft>
              <a:defRPr sz="1450">
                <a:solidFill>
                  <a:srgbClr val="1C2026"/>
                </a:solidFill>
                <a:latin typeface="Aptos"/>
              </a:defRPr>
            </a:pPr>
            <a:r>
              <a:t>• FIFO queue handling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200400"/>
            <a:ext cx="52578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364992"/>
            <a:ext cx="4800600" cy="32004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700" b="1">
                <a:solidFill>
                  <a:srgbClr val="374FAA"/>
                </a:solidFill>
                <a:latin typeface="Aptos"/>
              </a:defRPr>
            </a:pPr>
            <a:r>
              <a:t>Real-Time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840480"/>
            <a:ext cx="4800600" cy="1417319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>
              <a:spcAft>
                <a:spcPts val="500"/>
              </a:spcAft>
              <a:defRPr sz="1450">
                <a:solidFill>
                  <a:srgbClr val="1C2026"/>
                </a:solidFill>
                <a:latin typeface="Aptos"/>
              </a:defRPr>
            </a:pPr>
            <a:r>
              <a:t>• MongoDB updated first</a:t>
            </a:r>
          </a:p>
          <a:p>
            <a:pPr>
              <a:spcAft>
                <a:spcPts val="500"/>
              </a:spcAft>
              <a:defRPr sz="1450">
                <a:solidFill>
                  <a:srgbClr val="1C2026"/>
                </a:solidFill>
                <a:latin typeface="Aptos"/>
              </a:defRPr>
            </a:pPr>
            <a:r>
              <a:t>• Socket.IO broadcasts after write</a:t>
            </a:r>
          </a:p>
          <a:p>
            <a:pPr>
              <a:spcAft>
                <a:spcPts val="500"/>
              </a:spcAft>
              <a:defRPr sz="1450">
                <a:solidFill>
                  <a:srgbClr val="1C2026"/>
                </a:solidFill>
                <a:latin typeface="Aptos"/>
              </a:defRPr>
            </a:pPr>
            <a:r>
              <a:t>• queue room → staff</a:t>
            </a:r>
          </a:p>
          <a:p>
            <a:pPr>
              <a:spcAft>
                <a:spcPts val="500"/>
              </a:spcAft>
              <a:defRPr sz="1450">
                <a:solidFill>
                  <a:srgbClr val="1C2026"/>
                </a:solidFill>
                <a:latin typeface="Aptos"/>
              </a:defRPr>
            </a:pPr>
            <a:r>
              <a:t>• token:{id} room → customer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73152" cy="566928"/>
          </a:xfrm>
          <a:prstGeom prst="rect">
            <a:avLst/>
          </a:prstGeom>
          <a:solidFill>
            <a:srgbClr val="374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10896"/>
            <a:ext cx="10058400" cy="6400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2800" b="1">
                <a:solidFill>
                  <a:srgbClr val="1C2026"/>
                </a:solidFill>
                <a:latin typeface="Aptos"/>
              </a:defRPr>
            </a:pPr>
            <a:r>
              <a:t>Use Case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29768"/>
            <a:ext cx="502920" cy="27432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r">
              <a:defRPr sz="1100" b="1">
                <a:solidFill>
                  <a:srgbClr val="5F6670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37376"/>
            <a:ext cx="10515600" cy="1828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900" b="0">
                <a:solidFill>
                  <a:srgbClr val="5F6670"/>
                </a:solidFill>
                <a:latin typeface="Aptos"/>
              </a:defRPr>
            </a:pPr>
            <a:r>
              <a:t>QFlow  •  Review 1  •  MERN Stack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7315200" cy="4663440"/>
          </a:xfrm>
          <a:prstGeom prst="roundRect">
            <a:avLst/>
          </a:prstGeom>
          <a:solidFill>
            <a:srgbClr val="EEF0F4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0" y="1234440"/>
            <a:ext cx="320040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1399032"/>
            <a:ext cx="2743200" cy="32004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700" b="1">
                <a:solidFill>
                  <a:srgbClr val="374FAA"/>
                </a:solidFill>
                <a:latin typeface="Aptos"/>
              </a:defRPr>
            </a:pPr>
            <a:r>
              <a:t>Key 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1874519"/>
            <a:ext cx="2743200" cy="388620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>
              <a:spcAft>
                <a:spcPts val="500"/>
              </a:spcAft>
              <a:defRPr sz="1450">
                <a:solidFill>
                  <a:srgbClr val="1C2026"/>
                </a:solidFill>
                <a:latin typeface="Aptos"/>
              </a:defRPr>
            </a:pPr>
            <a:r>
              <a:t>• Customer: scan, register, get token, track, receive alert.</a:t>
            </a:r>
          </a:p>
          <a:p>
            <a:pPr>
              <a:spcAft>
                <a:spcPts val="500"/>
              </a:spcAft>
              <a:defRPr sz="1450">
                <a:solidFill>
                  <a:srgbClr val="1C2026"/>
                </a:solidFill>
                <a:latin typeface="Aptos"/>
              </a:defRPr>
            </a:pPr>
            <a:r>
              <a:t>• Staff: login, view queue, call, start, complete, skip, transfer.</a:t>
            </a:r>
          </a:p>
          <a:p>
            <a:pPr>
              <a:spcAft>
                <a:spcPts val="500"/>
              </a:spcAft>
              <a:defRPr sz="1450">
                <a:solidFill>
                  <a:srgbClr val="1C2026"/>
                </a:solidFill>
                <a:latin typeface="Aptos"/>
              </a:defRPr>
            </a:pPr>
            <a:r>
              <a:t>• Admin: manage counters, services and analytics.</a:t>
            </a:r>
          </a:p>
        </p:txBody>
      </p:sp>
      <p:pic>
        <p:nvPicPr>
          <p:cNvPr id="12" name="Picture 11" descr="01_use_cas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00" y="1250000"/>
            <a:ext cx="7270000" cy="462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73152" cy="566928"/>
          </a:xfrm>
          <a:prstGeom prst="rect">
            <a:avLst/>
          </a:prstGeom>
          <a:solidFill>
            <a:srgbClr val="374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10896"/>
            <a:ext cx="10058400" cy="6400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2800" b="1">
                <a:solidFill>
                  <a:srgbClr val="1C2026"/>
                </a:solidFill>
                <a:latin typeface="Aptos"/>
              </a:defRPr>
            </a:pPr>
            <a:r>
              <a:t>ER Diagram / 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29768"/>
            <a:ext cx="502920" cy="27432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r">
              <a:defRPr sz="1100" b="1">
                <a:solidFill>
                  <a:srgbClr val="5F6670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37376"/>
            <a:ext cx="10515600" cy="1828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900" b="0">
                <a:solidFill>
                  <a:srgbClr val="5F6670"/>
                </a:solidFill>
                <a:latin typeface="Aptos"/>
              </a:defRPr>
            </a:pPr>
            <a:r>
              <a:t>QFlow  •  Review 1  •  MERN Stack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7635240" cy="4754880"/>
          </a:xfrm>
          <a:prstGeom prst="roundRect">
            <a:avLst/>
          </a:prstGeom>
          <a:solidFill>
            <a:srgbClr val="EEF0F4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66760" y="1188720"/>
            <a:ext cx="30632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1353312"/>
            <a:ext cx="2606040" cy="32004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700" b="1">
                <a:solidFill>
                  <a:srgbClr val="374FAA"/>
                </a:solidFill>
                <a:latin typeface="Aptos"/>
              </a:defRPr>
            </a:pPr>
            <a:r>
              <a:t>Collections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1828800"/>
            <a:ext cx="2606040" cy="397764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>
              <a:spcAft>
                <a:spcPts val="500"/>
              </a:spcAft>
              <a:defRPr sz="1450">
                <a:solidFill>
                  <a:srgbClr val="1C2026"/>
                </a:solidFill>
                <a:latin typeface="Aptos"/>
              </a:defRPr>
            </a:pPr>
            <a:r>
              <a:t>• User: name, email, role</a:t>
            </a:r>
          </a:p>
          <a:p>
            <a:pPr>
              <a:spcAft>
                <a:spcPts val="500"/>
              </a:spcAft>
              <a:defRPr sz="1450">
                <a:solidFill>
                  <a:srgbClr val="1C2026"/>
                </a:solidFill>
                <a:latin typeface="Aptos"/>
              </a:defRPr>
            </a:pPr>
            <a:r>
              <a:t>• Counter: number, staff, status, current token</a:t>
            </a:r>
          </a:p>
          <a:p>
            <a:pPr>
              <a:spcAft>
                <a:spcPts val="500"/>
              </a:spcAft>
              <a:defRPr sz="1450">
                <a:solidFill>
                  <a:srgbClr val="1C2026"/>
                </a:solidFill>
                <a:latin typeface="Aptos"/>
              </a:defRPr>
            </a:pPr>
            <a:r>
              <a:t>• Token: customer, service, status, counter, timings</a:t>
            </a:r>
          </a:p>
          <a:p>
            <a:pPr>
              <a:spcAft>
                <a:spcPts val="500"/>
              </a:spcAft>
              <a:defRPr sz="1450">
                <a:solidFill>
                  <a:srgbClr val="1C2026"/>
                </a:solidFill>
                <a:latin typeface="Aptos"/>
              </a:defRPr>
            </a:pPr>
            <a:r>
              <a:t>• Service: name, code, duration</a:t>
            </a:r>
          </a:p>
          <a:p>
            <a:pPr>
              <a:spcAft>
                <a:spcPts val="500"/>
              </a:spcAft>
              <a:defRPr sz="1450">
                <a:solidFill>
                  <a:srgbClr val="1C2026"/>
                </a:solidFill>
                <a:latin typeface="Aptos"/>
              </a:defRPr>
            </a:pPr>
            <a:r>
              <a:t>• Token references Counter.</a:t>
            </a:r>
          </a:p>
        </p:txBody>
      </p:sp>
      <p:pic>
        <p:nvPicPr>
          <p:cNvPr id="12" name="Picture 11" descr="02_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000" y="1200000"/>
            <a:ext cx="7600000" cy="470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73152" cy="566928"/>
          </a:xfrm>
          <a:prstGeom prst="rect">
            <a:avLst/>
          </a:prstGeom>
          <a:solidFill>
            <a:srgbClr val="374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10896"/>
            <a:ext cx="10058400" cy="6400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2800" b="1">
                <a:solidFill>
                  <a:srgbClr val="1C2026"/>
                </a:solidFill>
                <a:latin typeface="Aptos"/>
              </a:defRPr>
            </a:pPr>
            <a:r>
              <a:t>Module Description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29768"/>
            <a:ext cx="502920" cy="27432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r">
              <a:defRPr sz="1100" b="1">
                <a:solidFill>
                  <a:srgbClr val="5F6670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37376"/>
            <a:ext cx="10515600" cy="1828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900" b="0">
                <a:solidFill>
                  <a:srgbClr val="5F6670"/>
                </a:solidFill>
                <a:latin typeface="Aptos"/>
              </a:defRPr>
            </a:pPr>
            <a:r>
              <a:t>QFlow  •  Review 1  •  MERN Stack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43000"/>
            <a:ext cx="3733799" cy="438912"/>
          </a:xfrm>
          <a:prstGeom prst="rect">
            <a:avLst/>
          </a:prstGeom>
          <a:solidFill>
            <a:srgbClr val="374F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07008"/>
            <a:ext cx="3642359" cy="256032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Module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36720" y="1143000"/>
            <a:ext cx="3733799" cy="438912"/>
          </a:xfrm>
          <a:prstGeom prst="rect">
            <a:avLst/>
          </a:prstGeom>
          <a:solidFill>
            <a:srgbClr val="374F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82439" y="1207008"/>
            <a:ext cx="3642359" cy="256032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Description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70520" y="1143000"/>
            <a:ext cx="3733799" cy="438912"/>
          </a:xfrm>
          <a:prstGeom prst="rect">
            <a:avLst/>
          </a:prstGeom>
          <a:solidFill>
            <a:srgbClr val="374F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16240" y="1207008"/>
            <a:ext cx="3642359" cy="256032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Key Functions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581912"/>
            <a:ext cx="3733799" cy="655755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609344"/>
            <a:ext cx="3642359" cy="610035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Customer Mobile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36720" y="1581912"/>
            <a:ext cx="3733799" cy="655755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2439" y="1609344"/>
            <a:ext cx="3642359" cy="610035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Check-in &amp; tracking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70520" y="1581912"/>
            <a:ext cx="3733799" cy="655755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16240" y="1609344"/>
            <a:ext cx="3642359" cy="610035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QR, form, token, live status, vibration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237667"/>
            <a:ext cx="3733799" cy="655755"/>
          </a:xfrm>
          <a:prstGeom prst="rect">
            <a:avLst/>
          </a:prstGeom>
          <a:solidFill>
            <a:srgbClr val="F2F4F7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265099"/>
            <a:ext cx="3642359" cy="610035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Token Management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36720" y="2237667"/>
            <a:ext cx="3733799" cy="655755"/>
          </a:xfrm>
          <a:prstGeom prst="rect">
            <a:avLst/>
          </a:prstGeom>
          <a:solidFill>
            <a:srgbClr val="F2F4F7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82439" y="2265099"/>
            <a:ext cx="3642359" cy="610035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Token lifecycle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70520" y="2237667"/>
            <a:ext cx="3733799" cy="655755"/>
          </a:xfrm>
          <a:prstGeom prst="rect">
            <a:avLst/>
          </a:prstGeom>
          <a:solidFill>
            <a:srgbClr val="F2F4F7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6240" y="2265099"/>
            <a:ext cx="3642359" cy="610035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Sequential numbering, status, transfers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893422"/>
            <a:ext cx="3733799" cy="655755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2920854"/>
            <a:ext cx="3642359" cy="610035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Counter Operations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36720" y="2893422"/>
            <a:ext cx="3733799" cy="655755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82439" y="2920854"/>
            <a:ext cx="3642359" cy="610035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Counter workflow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70520" y="2893422"/>
            <a:ext cx="3733799" cy="655755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16240" y="2920854"/>
            <a:ext cx="3642359" cy="610035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Call Next, Start, Complete, Skip, Transfer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549178"/>
            <a:ext cx="3733799" cy="655755"/>
          </a:xfrm>
          <a:prstGeom prst="rect">
            <a:avLst/>
          </a:prstGeom>
          <a:solidFill>
            <a:srgbClr val="F2F4F7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576610"/>
            <a:ext cx="3642359" cy="610035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AI Prediction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36720" y="3549178"/>
            <a:ext cx="3733799" cy="655755"/>
          </a:xfrm>
          <a:prstGeom prst="rect">
            <a:avLst/>
          </a:prstGeom>
          <a:solidFill>
            <a:srgbClr val="F2F4F7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82439" y="3576610"/>
            <a:ext cx="3642359" cy="610035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Time &amp; workload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70520" y="3549178"/>
            <a:ext cx="3733799" cy="655755"/>
          </a:xfrm>
          <a:prstGeom prst="rect">
            <a:avLst/>
          </a:prstGeom>
          <a:solidFill>
            <a:srgbClr val="F2F4F7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16240" y="3576610"/>
            <a:ext cx="3642359" cy="610035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Duration, wait time, counter suggestion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4204933"/>
            <a:ext cx="3733799" cy="655755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232365"/>
            <a:ext cx="3642359" cy="610035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Real-Time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36720" y="4204933"/>
            <a:ext cx="3733799" cy="655755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82439" y="4232365"/>
            <a:ext cx="3642359" cy="610035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Live synchronization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70520" y="4204933"/>
            <a:ext cx="3733799" cy="655755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16240" y="4232365"/>
            <a:ext cx="3642359" cy="610035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Socket rooms and event updates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4860689"/>
            <a:ext cx="3733799" cy="655755"/>
          </a:xfrm>
          <a:prstGeom prst="rect">
            <a:avLst/>
          </a:prstGeom>
          <a:solidFill>
            <a:srgbClr val="F2F4F7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4888121"/>
            <a:ext cx="3642359" cy="610035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Authentication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36720" y="4860689"/>
            <a:ext cx="3733799" cy="655755"/>
          </a:xfrm>
          <a:prstGeom prst="rect">
            <a:avLst/>
          </a:prstGeom>
          <a:solidFill>
            <a:srgbClr val="F2F4F7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82439" y="4888121"/>
            <a:ext cx="3642359" cy="610035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Staff/Admin security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70520" y="4860689"/>
            <a:ext cx="3733799" cy="655755"/>
          </a:xfrm>
          <a:prstGeom prst="rect">
            <a:avLst/>
          </a:prstGeom>
          <a:solidFill>
            <a:srgbClr val="F2F4F7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16240" y="4888121"/>
            <a:ext cx="3642359" cy="610035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JWT, bcrypt, protected routes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5516444"/>
            <a:ext cx="3733799" cy="655755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5543876"/>
            <a:ext cx="3642359" cy="610035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Analytics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36720" y="5516444"/>
            <a:ext cx="3733799" cy="655755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82439" y="5543876"/>
            <a:ext cx="3642359" cy="610035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Operational insights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970520" y="5516444"/>
            <a:ext cx="3733799" cy="655755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16240" y="5543876"/>
            <a:ext cx="3642359" cy="610035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Volume, wait/service averages, utilization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73152" cy="566928"/>
          </a:xfrm>
          <a:prstGeom prst="rect">
            <a:avLst/>
          </a:prstGeom>
          <a:solidFill>
            <a:srgbClr val="374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10896"/>
            <a:ext cx="10058400" cy="6400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2800" b="1">
                <a:solidFill>
                  <a:srgbClr val="1C2026"/>
                </a:solidFill>
                <a:latin typeface="Aptos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29768"/>
            <a:ext cx="502920" cy="27432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r">
              <a:defRPr sz="1100" b="1">
                <a:solidFill>
                  <a:srgbClr val="5F6670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37376"/>
            <a:ext cx="10515600" cy="1828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900" b="0">
                <a:solidFill>
                  <a:srgbClr val="5F6670"/>
                </a:solidFill>
                <a:latin typeface="Aptos"/>
              </a:defRPr>
            </a:pPr>
            <a:r>
              <a:t>QFlow  •  Review 1  •  MERN Stack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43000"/>
            <a:ext cx="3733799" cy="438912"/>
          </a:xfrm>
          <a:prstGeom prst="rect">
            <a:avLst/>
          </a:prstGeom>
          <a:solidFill>
            <a:srgbClr val="374F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07008"/>
            <a:ext cx="3642359" cy="256032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Category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4236720" y="1143000"/>
            <a:ext cx="3733799" cy="438912"/>
          </a:xfrm>
          <a:prstGeom prst="rect">
            <a:avLst/>
          </a:prstGeom>
          <a:solidFill>
            <a:srgbClr val="374F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82439" y="1207008"/>
            <a:ext cx="3642359" cy="256032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Technology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70520" y="1143000"/>
            <a:ext cx="3733799" cy="438912"/>
          </a:xfrm>
          <a:prstGeom prst="rect">
            <a:avLst/>
          </a:prstGeom>
          <a:solidFill>
            <a:srgbClr val="374F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16240" y="1207008"/>
            <a:ext cx="3642359" cy="256032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581912"/>
            <a:ext cx="3733799" cy="515112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609344"/>
            <a:ext cx="3642359" cy="469392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36720" y="1581912"/>
            <a:ext cx="3733799" cy="515112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2439" y="1609344"/>
            <a:ext cx="3642359" cy="469392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React 19 + Vite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70520" y="1581912"/>
            <a:ext cx="3733799" cy="515112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16240" y="1609344"/>
            <a:ext cx="3642359" cy="469392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Web application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097024"/>
            <a:ext cx="3733799" cy="515112"/>
          </a:xfrm>
          <a:prstGeom prst="rect">
            <a:avLst/>
          </a:prstGeom>
          <a:solidFill>
            <a:srgbClr val="F2F4F7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124456"/>
            <a:ext cx="3642359" cy="469392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Routing / UI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36720" y="2097024"/>
            <a:ext cx="3733799" cy="515112"/>
          </a:xfrm>
          <a:prstGeom prst="rect">
            <a:avLst/>
          </a:prstGeom>
          <a:solidFill>
            <a:srgbClr val="F2F4F7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82439" y="2124456"/>
            <a:ext cx="3642359" cy="469392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React Router 7 + Tailwind CSS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70520" y="2097024"/>
            <a:ext cx="3733799" cy="515112"/>
          </a:xfrm>
          <a:prstGeom prst="rect">
            <a:avLst/>
          </a:prstGeom>
          <a:solidFill>
            <a:srgbClr val="F2F4F7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6240" y="2124456"/>
            <a:ext cx="3642359" cy="469392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Navigation &amp; responsive UI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612136"/>
            <a:ext cx="3733799" cy="515112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2639567"/>
            <a:ext cx="3642359" cy="469392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36720" y="2612136"/>
            <a:ext cx="3733799" cy="515112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82439" y="2639567"/>
            <a:ext cx="3642359" cy="469392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Node.js + Express 4.18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70520" y="2612136"/>
            <a:ext cx="3733799" cy="515112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16240" y="2639567"/>
            <a:ext cx="3642359" cy="469392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Server &amp; REST APIs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127248"/>
            <a:ext cx="3733799" cy="515112"/>
          </a:xfrm>
          <a:prstGeom prst="rect">
            <a:avLst/>
          </a:prstGeom>
          <a:solidFill>
            <a:srgbClr val="F2F4F7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154679"/>
            <a:ext cx="3642359" cy="469392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36720" y="3127248"/>
            <a:ext cx="3733799" cy="515112"/>
          </a:xfrm>
          <a:prstGeom prst="rect">
            <a:avLst/>
          </a:prstGeom>
          <a:solidFill>
            <a:srgbClr val="F2F4F7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82439" y="3154679"/>
            <a:ext cx="3642359" cy="469392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MongoDB + Mongoose 8.3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70520" y="3127248"/>
            <a:ext cx="3733799" cy="515112"/>
          </a:xfrm>
          <a:prstGeom prst="rect">
            <a:avLst/>
          </a:prstGeom>
          <a:solidFill>
            <a:srgbClr val="F2F4F7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16240" y="3154679"/>
            <a:ext cx="3642359" cy="469392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Persistent data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3642360"/>
            <a:ext cx="3733799" cy="515112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3669792"/>
            <a:ext cx="3642359" cy="469392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Real-Time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36720" y="3642360"/>
            <a:ext cx="3733799" cy="515112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82439" y="3669792"/>
            <a:ext cx="3642359" cy="469392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Socket.IO 4.7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70520" y="3642360"/>
            <a:ext cx="3733799" cy="515112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16240" y="3669792"/>
            <a:ext cx="3642359" cy="469392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Live updates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4157472"/>
            <a:ext cx="3733799" cy="515112"/>
          </a:xfrm>
          <a:prstGeom prst="rect">
            <a:avLst/>
          </a:prstGeom>
          <a:solidFill>
            <a:srgbClr val="F2F4F7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4184904"/>
            <a:ext cx="3642359" cy="469392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36720" y="4157472"/>
            <a:ext cx="3733799" cy="515112"/>
          </a:xfrm>
          <a:prstGeom prst="rect">
            <a:avLst/>
          </a:prstGeom>
          <a:solidFill>
            <a:srgbClr val="F2F4F7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82439" y="4184904"/>
            <a:ext cx="3642359" cy="469392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JWT + bcryptjs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70520" y="4157472"/>
            <a:ext cx="3733799" cy="515112"/>
          </a:xfrm>
          <a:prstGeom prst="rect">
            <a:avLst/>
          </a:prstGeom>
          <a:solidFill>
            <a:srgbClr val="F2F4F7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16240" y="4184904"/>
            <a:ext cx="3642359" cy="469392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Authentication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4672583"/>
            <a:ext cx="3733799" cy="515112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4700016"/>
            <a:ext cx="3642359" cy="469392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AI / Charts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36720" y="4672583"/>
            <a:ext cx="3733799" cy="515112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82439" y="4700016"/>
            <a:ext cx="3642359" cy="469392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Weighted regression + Recharts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970520" y="4672583"/>
            <a:ext cx="3733799" cy="515112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16240" y="4700016"/>
            <a:ext cx="3642359" cy="469392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Prediction &amp; analytics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5187696"/>
            <a:ext cx="3733799" cy="515112"/>
          </a:xfrm>
          <a:prstGeom prst="rect">
            <a:avLst/>
          </a:prstGeom>
          <a:solidFill>
            <a:srgbClr val="F2F4F7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5215128"/>
            <a:ext cx="3642359" cy="469392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QR / HTTP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36720" y="5187696"/>
            <a:ext cx="3733799" cy="515112"/>
          </a:xfrm>
          <a:prstGeom prst="rect">
            <a:avLst/>
          </a:prstGeom>
          <a:solidFill>
            <a:srgbClr val="F2F4F7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82439" y="5215128"/>
            <a:ext cx="3642359" cy="469392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qrcode + qrcode.react + Axios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970520" y="5187696"/>
            <a:ext cx="3733799" cy="515112"/>
          </a:xfrm>
          <a:prstGeom prst="rect">
            <a:avLst/>
          </a:prstGeom>
          <a:solidFill>
            <a:srgbClr val="F2F4F7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016240" y="5215128"/>
            <a:ext cx="3642359" cy="469392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QR and API communication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2920" y="5702808"/>
            <a:ext cx="3733799" cy="515112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8640" y="5730240"/>
            <a:ext cx="3642359" cy="469392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Tools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236720" y="5702808"/>
            <a:ext cx="3733799" cy="515112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282439" y="5730240"/>
            <a:ext cx="3642359" cy="469392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VS Code, Git, Postman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970520" y="5702808"/>
            <a:ext cx="3733799" cy="515112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016240" y="5730240"/>
            <a:ext cx="3642359" cy="469392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Development &amp; testing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73152" cy="566928"/>
          </a:xfrm>
          <a:prstGeom prst="rect">
            <a:avLst/>
          </a:prstGeom>
          <a:solidFill>
            <a:srgbClr val="374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10896"/>
            <a:ext cx="10058400" cy="6400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2800" b="1">
                <a:solidFill>
                  <a:srgbClr val="1C2026"/>
                </a:solidFill>
                <a:latin typeface="Aptos"/>
              </a:defRPr>
            </a:pPr>
            <a:r>
              <a:t>UI Design / Wireframes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29768"/>
            <a:ext cx="502920" cy="27432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r">
              <a:defRPr sz="1100" b="1">
                <a:solidFill>
                  <a:srgbClr val="5F6670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37376"/>
            <a:ext cx="10515600" cy="1828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900" b="0">
                <a:solidFill>
                  <a:srgbClr val="5F6670"/>
                </a:solidFill>
                <a:latin typeface="Aptos"/>
              </a:defRPr>
            </a:pPr>
            <a:r>
              <a:t>QFlow  •  Review 1  •  MERN Stack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530352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53312"/>
            <a:ext cx="4846320" cy="32004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700" b="1">
                <a:solidFill>
                  <a:srgbClr val="374FAA"/>
                </a:solidFill>
                <a:latin typeface="Aptos"/>
              </a:defRPr>
            </a:pPr>
            <a:r>
              <a:t>Customer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4846320" cy="388620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>
              <a:spcAft>
                <a:spcPts val="500"/>
              </a:spcAft>
              <a:defRPr sz="1450">
                <a:solidFill>
                  <a:srgbClr val="1C2026"/>
                </a:solidFill>
                <a:latin typeface="Aptos"/>
              </a:defRPr>
            </a:pPr>
            <a:r>
              <a:t>• Dark, high-contrast mobile design</a:t>
            </a:r>
          </a:p>
          <a:p>
            <a:pPr>
              <a:spcAft>
                <a:spcPts val="500"/>
              </a:spcAft>
              <a:defRPr sz="1450">
                <a:solidFill>
                  <a:srgbClr val="1C2026"/>
                </a:solidFill>
                <a:latin typeface="Aptos"/>
              </a:defRPr>
            </a:pPr>
            <a:r>
              <a:t>• Single-column, thumb-friendly layout</a:t>
            </a:r>
          </a:p>
          <a:p>
            <a:pPr>
              <a:spcAft>
                <a:spcPts val="500"/>
              </a:spcAft>
              <a:defRPr sz="1450">
                <a:solidFill>
                  <a:srgbClr val="1C2026"/>
                </a:solidFill>
                <a:latin typeface="Aptos"/>
              </a:defRPr>
            </a:pPr>
            <a:r>
              <a:t>• Large token and live status</a:t>
            </a:r>
          </a:p>
          <a:p>
            <a:pPr>
              <a:spcAft>
                <a:spcPts val="500"/>
              </a:spcAft>
              <a:defRPr sz="1450">
                <a:solidFill>
                  <a:srgbClr val="1C2026"/>
                </a:solidFill>
                <a:latin typeface="Aptos"/>
              </a:defRPr>
            </a:pPr>
            <a:r>
              <a:t>• People-ahead and estimated-wait cards</a:t>
            </a:r>
          </a:p>
          <a:p>
            <a:pPr>
              <a:spcAft>
                <a:spcPts val="500"/>
              </a:spcAft>
              <a:defRPr sz="1450">
                <a:solidFill>
                  <a:srgbClr val="1C2026"/>
                </a:solidFill>
                <a:latin typeface="Aptos"/>
              </a:defRPr>
            </a:pPr>
            <a:r>
              <a:t>• Live counter grid</a:t>
            </a:r>
          </a:p>
          <a:p>
            <a:pPr>
              <a:spcAft>
                <a:spcPts val="500"/>
              </a:spcAft>
              <a:defRPr sz="1450">
                <a:solidFill>
                  <a:srgbClr val="1C2026"/>
                </a:solidFill>
                <a:latin typeface="Aptos"/>
              </a:defRPr>
            </a:pPr>
            <a:r>
              <a:t>• Turn alert + phone vibration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188720"/>
            <a:ext cx="530352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53312"/>
            <a:ext cx="4846320" cy="32004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700" b="1">
                <a:solidFill>
                  <a:srgbClr val="374FAA"/>
                </a:solidFill>
                <a:latin typeface="Aptos"/>
              </a:defRPr>
            </a:pPr>
            <a:r>
              <a:t>Staff / Admin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4846320" cy="388620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>
              <a:spcAft>
                <a:spcPts val="500"/>
              </a:spcAft>
              <a:defRPr sz="1450">
                <a:solidFill>
                  <a:srgbClr val="1C2026"/>
                </a:solidFill>
                <a:latin typeface="Aptos"/>
              </a:defRPr>
            </a:pPr>
            <a:r>
              <a:t>• Dark dashboard with indigo accents</a:t>
            </a:r>
          </a:p>
          <a:p>
            <a:pPr>
              <a:spcAft>
                <a:spcPts val="500"/>
              </a:spcAft>
              <a:defRPr sz="1450">
                <a:solidFill>
                  <a:srgbClr val="1C2026"/>
                </a:solidFill>
                <a:latin typeface="Aptos"/>
              </a:defRPr>
            </a:pPr>
            <a:r>
              <a:t>• Summary metric cards</a:t>
            </a:r>
          </a:p>
          <a:p>
            <a:pPr>
              <a:spcAft>
                <a:spcPts val="500"/>
              </a:spcAft>
              <a:defRPr sz="1450">
                <a:solidFill>
                  <a:srgbClr val="1C2026"/>
                </a:solidFill>
                <a:latin typeface="Aptos"/>
              </a:defRPr>
            </a:pPr>
            <a:r>
              <a:t>• Live counter monitoring</a:t>
            </a:r>
          </a:p>
          <a:p>
            <a:pPr>
              <a:spcAft>
                <a:spcPts val="500"/>
              </a:spcAft>
              <a:defRPr sz="1450">
                <a:solidFill>
                  <a:srgbClr val="1C2026"/>
                </a:solidFill>
                <a:latin typeface="Aptos"/>
              </a:defRPr>
            </a:pPr>
            <a:r>
              <a:t>• AI recommendation panel</a:t>
            </a:r>
          </a:p>
          <a:p>
            <a:pPr>
              <a:spcAft>
                <a:spcPts val="500"/>
              </a:spcAft>
              <a:defRPr sz="1450">
                <a:solidFill>
                  <a:srgbClr val="1C2026"/>
                </a:solidFill>
                <a:latin typeface="Aptos"/>
              </a:defRPr>
            </a:pPr>
            <a:r>
              <a:t>• Queue/history tables</a:t>
            </a:r>
          </a:p>
          <a:p>
            <a:pPr>
              <a:spcAft>
                <a:spcPts val="500"/>
              </a:spcAft>
              <a:defRPr sz="1450">
                <a:solidFill>
                  <a:srgbClr val="1C2026"/>
                </a:solidFill>
                <a:latin typeface="Aptos"/>
              </a:defRPr>
            </a:pPr>
            <a:r>
              <a:t>• Counters, analytics and settings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943600"/>
            <a:ext cx="10241280" cy="27432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ctr">
              <a:defRPr sz="1150" b="1">
                <a:solidFill>
                  <a:srgbClr val="5F6670"/>
                </a:solidFill>
                <a:latin typeface="Aptos"/>
              </a:defRPr>
            </a:pPr>
            <a:r>
              <a:t>Main screens: Customer Check-In • Token Status • Login • Dashboard • Queue • Counters • Analytics • Settings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73152" cy="566928"/>
          </a:xfrm>
          <a:prstGeom prst="rect">
            <a:avLst/>
          </a:prstGeom>
          <a:solidFill>
            <a:srgbClr val="374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10896"/>
            <a:ext cx="10058400" cy="6400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2800" b="1">
                <a:solidFill>
                  <a:srgbClr val="1C2026"/>
                </a:solidFill>
                <a:latin typeface="Aptos"/>
              </a:defRPr>
            </a:pPr>
            <a:r>
              <a:t>Frontend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29768"/>
            <a:ext cx="502920" cy="27432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r">
              <a:defRPr sz="1100" b="1">
                <a:solidFill>
                  <a:srgbClr val="5F667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37376"/>
            <a:ext cx="10515600" cy="1828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900" b="0">
                <a:solidFill>
                  <a:srgbClr val="5F6670"/>
                </a:solidFill>
                <a:latin typeface="Aptos"/>
              </a:defRPr>
            </a:pPr>
            <a:r>
              <a:t>QFlow  •  Review 1  •  MERN Stack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88720"/>
            <a:ext cx="525780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53312"/>
            <a:ext cx="4800600" cy="32004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700" b="1">
                <a:solidFill>
                  <a:srgbClr val="374FAA"/>
                </a:solidFill>
                <a:latin typeface="Aptos"/>
              </a:defRPr>
            </a:pPr>
            <a:r>
              <a:t>Application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800600" cy="388620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>
              <a:spcAft>
                <a:spcPts val="500"/>
              </a:spcAft>
              <a:defRPr sz="1450">
                <a:solidFill>
                  <a:srgbClr val="1C2026"/>
                </a:solidFill>
                <a:latin typeface="Aptos"/>
              </a:defRPr>
            </a:pPr>
            <a:r>
              <a:t>• React 19 + Vite</a:t>
            </a:r>
          </a:p>
          <a:p>
            <a:pPr>
              <a:spcAft>
                <a:spcPts val="500"/>
              </a:spcAft>
              <a:defRPr sz="1450">
                <a:solidFill>
                  <a:srgbClr val="1C2026"/>
                </a:solidFill>
                <a:latin typeface="Aptos"/>
              </a:defRPr>
            </a:pPr>
            <a:r>
              <a:t>• Customer routes: /customer, /customer/token/:tokenId</a:t>
            </a:r>
          </a:p>
          <a:p>
            <a:pPr>
              <a:spcAft>
                <a:spcPts val="500"/>
              </a:spcAft>
              <a:defRPr sz="1450">
                <a:solidFill>
                  <a:srgbClr val="1C2026"/>
                </a:solidFill>
                <a:latin typeface="Aptos"/>
              </a:defRPr>
            </a:pPr>
            <a:r>
              <a:t>• Staff routes: /, /queue, /counters, /analytics, /settings</a:t>
            </a:r>
          </a:p>
          <a:p>
            <a:pPr>
              <a:spcAft>
                <a:spcPts val="500"/>
              </a:spcAft>
              <a:defRPr sz="1450">
                <a:solidFill>
                  <a:srgbClr val="1C2026"/>
                </a:solidFill>
                <a:latin typeface="Aptos"/>
              </a:defRPr>
            </a:pPr>
            <a:r>
              <a:t>• AuthContext for login session</a:t>
            </a:r>
          </a:p>
          <a:p>
            <a:pPr>
              <a:spcAft>
                <a:spcPts val="500"/>
              </a:spcAft>
              <a:defRPr sz="1450">
                <a:solidFill>
                  <a:srgbClr val="1C2026"/>
                </a:solidFill>
                <a:latin typeface="Aptos"/>
              </a:defRPr>
            </a:pPr>
            <a:r>
              <a:t>• QueueContext for tokens, counters and live events</a:t>
            </a:r>
          </a:p>
          <a:p>
            <a:pPr>
              <a:spcAft>
                <a:spcPts val="500"/>
              </a:spcAft>
              <a:defRPr sz="1450">
                <a:solidFill>
                  <a:srgbClr val="1C2026"/>
                </a:solidFill>
                <a:latin typeface="Aptos"/>
              </a:defRPr>
            </a:pPr>
            <a:r>
              <a:t>• Axios through /api proxy</a:t>
            </a:r>
          </a:p>
          <a:p>
            <a:pPr>
              <a:spcAft>
                <a:spcPts val="500"/>
              </a:spcAft>
              <a:defRPr sz="1450">
                <a:solidFill>
                  <a:srgbClr val="1C2026"/>
                </a:solidFill>
                <a:latin typeface="Aptos"/>
              </a:defRPr>
            </a:pPr>
            <a:r>
              <a:t>• Socket.IO through current LAN origin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188720"/>
            <a:ext cx="525780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53312"/>
            <a:ext cx="4800600" cy="32004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700" b="1">
                <a:solidFill>
                  <a:srgbClr val="374FAA"/>
                </a:solidFill>
                <a:latin typeface="Aptos"/>
              </a:defRPr>
            </a:pPr>
            <a:r>
              <a:t>Key Screens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4800600" cy="388620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>
              <a:spcAft>
                <a:spcPts val="500"/>
              </a:spcAft>
              <a:defRPr sz="1450">
                <a:solidFill>
                  <a:srgbClr val="1C2026"/>
                </a:solidFill>
                <a:latin typeface="Aptos"/>
              </a:defRPr>
            </a:pPr>
            <a:r>
              <a:t>• CustomerPortal.jsx</a:t>
            </a:r>
          </a:p>
          <a:p>
            <a:pPr>
              <a:spcAft>
                <a:spcPts val="500"/>
              </a:spcAft>
              <a:defRPr sz="1450">
                <a:solidFill>
                  <a:srgbClr val="1C2026"/>
                </a:solidFill>
                <a:latin typeface="Aptos"/>
              </a:defRPr>
            </a:pPr>
            <a:r>
              <a:t>• TokenStatus.jsx</a:t>
            </a:r>
          </a:p>
          <a:p>
            <a:pPr>
              <a:spcAft>
                <a:spcPts val="500"/>
              </a:spcAft>
              <a:defRPr sz="1450">
                <a:solidFill>
                  <a:srgbClr val="1C2026"/>
                </a:solidFill>
                <a:latin typeface="Aptos"/>
              </a:defRPr>
            </a:pPr>
            <a:r>
              <a:t>• LoginPage.jsx</a:t>
            </a:r>
          </a:p>
          <a:p>
            <a:pPr>
              <a:spcAft>
                <a:spcPts val="500"/>
              </a:spcAft>
              <a:defRPr sz="1450">
                <a:solidFill>
                  <a:srgbClr val="1C2026"/>
                </a:solidFill>
                <a:latin typeface="Aptos"/>
              </a:defRPr>
            </a:pPr>
            <a:r>
              <a:t>• Dashboard.jsx</a:t>
            </a:r>
          </a:p>
          <a:p>
            <a:pPr>
              <a:spcAft>
                <a:spcPts val="500"/>
              </a:spcAft>
              <a:defRPr sz="1450">
                <a:solidFill>
                  <a:srgbClr val="1C2026"/>
                </a:solidFill>
                <a:latin typeface="Aptos"/>
              </a:defRPr>
            </a:pPr>
            <a:r>
              <a:t>• QueuePage.jsx</a:t>
            </a:r>
          </a:p>
          <a:p>
            <a:pPr>
              <a:spcAft>
                <a:spcPts val="500"/>
              </a:spcAft>
              <a:defRPr sz="1450">
                <a:solidFill>
                  <a:srgbClr val="1C2026"/>
                </a:solidFill>
                <a:latin typeface="Aptos"/>
              </a:defRPr>
            </a:pPr>
            <a:r>
              <a:t>• CountersPage.jsx</a:t>
            </a:r>
          </a:p>
          <a:p>
            <a:pPr>
              <a:spcAft>
                <a:spcPts val="500"/>
              </a:spcAft>
              <a:defRPr sz="1450">
                <a:solidFill>
                  <a:srgbClr val="1C2026"/>
                </a:solidFill>
                <a:latin typeface="Aptos"/>
              </a:defRPr>
            </a:pPr>
            <a:r>
              <a:t>• AnalyticsPage.jsx / SettingsPage.jsx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73152" cy="566928"/>
          </a:xfrm>
          <a:prstGeom prst="rect">
            <a:avLst/>
          </a:prstGeom>
          <a:solidFill>
            <a:srgbClr val="374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10896"/>
            <a:ext cx="10058400" cy="6400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2800" b="1">
                <a:solidFill>
                  <a:srgbClr val="1C2026"/>
                </a:solidFill>
                <a:latin typeface="Aptos"/>
              </a:defRPr>
            </a:pPr>
            <a:r>
              <a:t>Backend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29768"/>
            <a:ext cx="502920" cy="27432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r">
              <a:defRPr sz="1100" b="1">
                <a:solidFill>
                  <a:srgbClr val="5F667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37376"/>
            <a:ext cx="10515600" cy="1828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900" b="0">
                <a:solidFill>
                  <a:srgbClr val="5F6670"/>
                </a:solidFill>
                <a:latin typeface="Aptos"/>
              </a:defRPr>
            </a:pPr>
            <a:r>
              <a:t>QFlow  •  Review 1  •  MERN Stack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424160" cy="512064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>
              <a:spcAft>
                <a:spcPts val="500"/>
              </a:spcAft>
              <a:defRPr sz="1650">
                <a:solidFill>
                  <a:srgbClr val="1C2026"/>
                </a:solidFill>
                <a:latin typeface="Aptos"/>
              </a:defRPr>
            </a:pPr>
            <a:r>
              <a:t>• Node.js + Express server with Socket.IO.</a:t>
            </a:r>
          </a:p>
          <a:p>
            <a:pPr>
              <a:spcAft>
                <a:spcPts val="500"/>
              </a:spcAft>
              <a:defRPr sz="1650">
                <a:solidFill>
                  <a:srgbClr val="1C2026"/>
                </a:solidFill>
                <a:latin typeface="Aptos"/>
              </a:defRPr>
            </a:pPr>
            <a:r>
              <a:t>• Controllers for auth, tokens, counters, services, queue and analytics.</a:t>
            </a:r>
          </a:p>
          <a:p>
            <a:pPr>
              <a:spcAft>
                <a:spcPts val="500"/>
              </a:spcAft>
              <a:defRPr sz="1650">
                <a:solidFill>
                  <a:srgbClr val="1C2026"/>
                </a:solidFill>
                <a:latin typeface="Aptos"/>
              </a:defRPr>
            </a:pPr>
            <a:r>
              <a:t>• Token actions: create, call, start, complete, skip and transfer.</a:t>
            </a:r>
          </a:p>
          <a:p>
            <a:pPr>
              <a:spcAft>
                <a:spcPts val="500"/>
              </a:spcAft>
              <a:defRPr sz="1650">
                <a:solidFill>
                  <a:srgbClr val="1C2026"/>
                </a:solidFill>
                <a:latin typeface="Aptos"/>
              </a:defRPr>
            </a:pPr>
            <a:r>
              <a:t>• Counter actions: create, update, deactivate and Call Next.</a:t>
            </a:r>
          </a:p>
          <a:p>
            <a:pPr>
              <a:spcAft>
                <a:spcPts val="500"/>
              </a:spcAft>
              <a:defRPr sz="1650">
                <a:solidFill>
                  <a:srgbClr val="1C2026"/>
                </a:solidFill>
                <a:latin typeface="Aptos"/>
              </a:defRPr>
            </a:pPr>
            <a:r>
              <a:t>• JWT middleware and bcrypt password handling.</a:t>
            </a:r>
          </a:p>
          <a:p>
            <a:pPr>
              <a:spcAft>
                <a:spcPts val="500"/>
              </a:spcAft>
              <a:defRPr sz="1650">
                <a:solidFill>
                  <a:srgbClr val="1C2026"/>
                </a:solidFill>
                <a:latin typeface="Aptos"/>
              </a:defRPr>
            </a:pPr>
            <a:r>
              <a:t>• Central error handler for validation and duplicate-key errors.</a:t>
            </a:r>
          </a:p>
          <a:p>
            <a:pPr>
              <a:spcAft>
                <a:spcPts val="500"/>
              </a:spcAft>
              <a:defRPr sz="1650">
                <a:solidFill>
                  <a:srgbClr val="1C2026"/>
                </a:solidFill>
                <a:latin typeface="Aptos"/>
              </a:defRPr>
            </a:pPr>
            <a:r>
              <a:t>• Local MongoDB with automatic embedded fallback.</a:t>
            </a:r>
          </a:p>
          <a:p>
            <a:pPr>
              <a:spcAft>
                <a:spcPts val="500"/>
              </a:spcAft>
              <a:defRPr sz="1650">
                <a:solidFill>
                  <a:srgbClr val="1C2026"/>
                </a:solidFill>
                <a:latin typeface="Aptos"/>
              </a:defRPr>
            </a:pPr>
            <a:r>
              <a:t>• Socket events are emitted only after successful database writes.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73152" cy="566928"/>
          </a:xfrm>
          <a:prstGeom prst="rect">
            <a:avLst/>
          </a:prstGeom>
          <a:solidFill>
            <a:srgbClr val="374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10896"/>
            <a:ext cx="10058400" cy="6400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2800" b="1">
                <a:solidFill>
                  <a:srgbClr val="1C2026"/>
                </a:solidFill>
                <a:latin typeface="Aptos"/>
              </a:defRPr>
            </a:pPr>
            <a:r>
              <a:t>Database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29768"/>
            <a:ext cx="502920" cy="27432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r">
              <a:defRPr sz="1100" b="1">
                <a:solidFill>
                  <a:srgbClr val="5F6670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37376"/>
            <a:ext cx="10515600" cy="1828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900" b="0">
                <a:solidFill>
                  <a:srgbClr val="5F6670"/>
                </a:solidFill>
                <a:latin typeface="Aptos"/>
              </a:defRPr>
            </a:pPr>
            <a:r>
              <a:t>QFlow  •  Review 1  •  MERN Stack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43000"/>
            <a:ext cx="3733799" cy="438912"/>
          </a:xfrm>
          <a:prstGeom prst="rect">
            <a:avLst/>
          </a:prstGeom>
          <a:solidFill>
            <a:srgbClr val="374F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07008"/>
            <a:ext cx="3642359" cy="256032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Collection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236720" y="1143000"/>
            <a:ext cx="3733799" cy="438912"/>
          </a:xfrm>
          <a:prstGeom prst="rect">
            <a:avLst/>
          </a:prstGeom>
          <a:solidFill>
            <a:srgbClr val="374F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82439" y="1207008"/>
            <a:ext cx="3642359" cy="256032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Important Fields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70520" y="1143000"/>
            <a:ext cx="3733799" cy="438912"/>
          </a:xfrm>
          <a:prstGeom prst="rect">
            <a:avLst/>
          </a:prstGeom>
          <a:solidFill>
            <a:srgbClr val="374F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16240" y="1207008"/>
            <a:ext cx="3642359" cy="256032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581912"/>
            <a:ext cx="3733799" cy="633222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609344"/>
            <a:ext cx="3642359" cy="587502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100" b="0">
                <a:solidFill>
                  <a:srgbClr val="1C2026"/>
                </a:solidFill>
                <a:latin typeface="Aptos"/>
              </a:defRPr>
            </a:pPr>
            <a:r>
              <a:t>Users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36720" y="1581912"/>
            <a:ext cx="3733799" cy="633222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2439" y="1609344"/>
            <a:ext cx="3642359" cy="587502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100" b="0">
                <a:solidFill>
                  <a:srgbClr val="1C2026"/>
                </a:solidFill>
                <a:latin typeface="Aptos"/>
              </a:defRPr>
            </a:pPr>
            <a:r>
              <a:t>name, email, password, role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70520" y="1581912"/>
            <a:ext cx="3733799" cy="633222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16240" y="1609344"/>
            <a:ext cx="3642359" cy="587502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100" b="0">
                <a:solidFill>
                  <a:srgbClr val="1C2026"/>
                </a:solidFill>
                <a:latin typeface="Aptos"/>
              </a:defRPr>
            </a:pPr>
            <a:r>
              <a:t>Staff/Admin accounts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215134"/>
            <a:ext cx="3733799" cy="633222"/>
          </a:xfrm>
          <a:prstGeom prst="rect">
            <a:avLst/>
          </a:prstGeom>
          <a:solidFill>
            <a:srgbClr val="F2F4F7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242565"/>
            <a:ext cx="3642359" cy="587502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100" b="0">
                <a:solidFill>
                  <a:srgbClr val="1C2026"/>
                </a:solidFill>
                <a:latin typeface="Aptos"/>
              </a:defRPr>
            </a:pPr>
            <a:r>
              <a:t>Counters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36720" y="2215134"/>
            <a:ext cx="3733799" cy="633222"/>
          </a:xfrm>
          <a:prstGeom prst="rect">
            <a:avLst/>
          </a:prstGeom>
          <a:solidFill>
            <a:srgbClr val="F2F4F7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82439" y="2242565"/>
            <a:ext cx="3642359" cy="587502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100" b="0">
                <a:solidFill>
                  <a:srgbClr val="1C2026"/>
                </a:solidFill>
                <a:latin typeface="Aptos"/>
              </a:defRPr>
            </a:pPr>
            <a:r>
              <a:t>number, staff, status, currentTokenId, isActive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70520" y="2215134"/>
            <a:ext cx="3733799" cy="633222"/>
          </a:xfrm>
          <a:prstGeom prst="rect">
            <a:avLst/>
          </a:prstGeom>
          <a:solidFill>
            <a:srgbClr val="F2F4F7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6240" y="2242565"/>
            <a:ext cx="3642359" cy="587502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100" b="0">
                <a:solidFill>
                  <a:srgbClr val="1C2026"/>
                </a:solidFill>
                <a:latin typeface="Aptos"/>
              </a:defRPr>
            </a:pPr>
            <a:r>
              <a:t>Service stations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848356"/>
            <a:ext cx="3733799" cy="633222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2875788"/>
            <a:ext cx="3642359" cy="587502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100" b="0">
                <a:solidFill>
                  <a:srgbClr val="1C2026"/>
                </a:solidFill>
                <a:latin typeface="Aptos"/>
              </a:defRPr>
            </a:pPr>
            <a:r>
              <a:t>Tokens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36720" y="2848356"/>
            <a:ext cx="3733799" cy="633222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82439" y="2875788"/>
            <a:ext cx="3642359" cy="587502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100" b="0">
                <a:solidFill>
                  <a:srgbClr val="1C2026"/>
                </a:solidFill>
                <a:latin typeface="Aptos"/>
              </a:defRPr>
            </a:pPr>
            <a:r>
              <a:t>tokenNumber, customer, service, status, counter, timings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70520" y="2848356"/>
            <a:ext cx="3733799" cy="633222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16240" y="2875788"/>
            <a:ext cx="3642359" cy="587502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100" b="0">
                <a:solidFill>
                  <a:srgbClr val="1C2026"/>
                </a:solidFill>
                <a:latin typeface="Aptos"/>
              </a:defRPr>
            </a:pPr>
            <a:r>
              <a:t>Queue records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481578"/>
            <a:ext cx="3733799" cy="633222"/>
          </a:xfrm>
          <a:prstGeom prst="rect">
            <a:avLst/>
          </a:prstGeom>
          <a:solidFill>
            <a:srgbClr val="F2F4F7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509010"/>
            <a:ext cx="3642359" cy="587502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100" b="0">
                <a:solidFill>
                  <a:srgbClr val="1C2026"/>
                </a:solidFill>
                <a:latin typeface="Aptos"/>
              </a:defRPr>
            </a:pPr>
            <a:r>
              <a:t>Services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36720" y="3481578"/>
            <a:ext cx="3733799" cy="633222"/>
          </a:xfrm>
          <a:prstGeom prst="rect">
            <a:avLst/>
          </a:prstGeom>
          <a:solidFill>
            <a:srgbClr val="F2F4F7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82439" y="3509010"/>
            <a:ext cx="3642359" cy="587502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100" b="0">
                <a:solidFill>
                  <a:srgbClr val="1C2026"/>
                </a:solidFill>
                <a:latin typeface="Aptos"/>
              </a:defRPr>
            </a:pPr>
            <a:r>
              <a:t>name, code, averageDuration, active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70520" y="3481578"/>
            <a:ext cx="3733799" cy="633222"/>
          </a:xfrm>
          <a:prstGeom prst="rect">
            <a:avLst/>
          </a:prstGeom>
          <a:solidFill>
            <a:srgbClr val="F2F4F7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16240" y="3509010"/>
            <a:ext cx="3642359" cy="587502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100" b="0">
                <a:solidFill>
                  <a:srgbClr val="1C2026"/>
                </a:solidFill>
                <a:latin typeface="Aptos"/>
              </a:defRPr>
            </a:pPr>
            <a:r>
              <a:t>Service categories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4389120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4553712"/>
            <a:ext cx="4800600" cy="32004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700" b="1">
                <a:solidFill>
                  <a:srgbClr val="374FAA"/>
                </a:solidFill>
                <a:latin typeface="Aptos"/>
              </a:defRPr>
            </a:pPr>
            <a:r>
              <a:t>Flow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029200"/>
            <a:ext cx="4800600" cy="54864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>
              <a:spcAft>
                <a:spcPts val="500"/>
              </a:spcAft>
              <a:defRPr sz="1450">
                <a:solidFill>
                  <a:srgbClr val="1C2026"/>
                </a:solidFill>
                <a:latin typeface="Aptos"/>
              </a:defRPr>
            </a:pPr>
            <a:r>
              <a:t>• Request → Mongoose → MongoDB → successful write → Socket.IO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72200" y="4389120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4553712"/>
            <a:ext cx="4800600" cy="32004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700" b="1">
                <a:solidFill>
                  <a:srgbClr val="374FAA"/>
                </a:solidFill>
                <a:latin typeface="Aptos"/>
              </a:defRPr>
            </a:pPr>
            <a:r>
              <a:t>Seed Data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5029200"/>
            <a:ext cx="4800600" cy="54864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>
              <a:spcAft>
                <a:spcPts val="500"/>
              </a:spcAft>
              <a:defRPr sz="1450">
                <a:solidFill>
                  <a:srgbClr val="1C2026"/>
                </a:solidFill>
                <a:latin typeface="Aptos"/>
              </a:defRPr>
            </a:pPr>
            <a:r>
              <a:t>• Admin + staff • 5 services • 4 counters • 15 historical records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73152" cy="566928"/>
          </a:xfrm>
          <a:prstGeom prst="rect">
            <a:avLst/>
          </a:prstGeom>
          <a:solidFill>
            <a:srgbClr val="374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10896"/>
            <a:ext cx="10058400" cy="6400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2800" b="1">
                <a:solidFill>
                  <a:srgbClr val="1C2026"/>
                </a:solidFill>
                <a:latin typeface="Aptos"/>
              </a:defRPr>
            </a:pPr>
            <a:r>
              <a:t>API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29768"/>
            <a:ext cx="502920" cy="27432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r">
              <a:defRPr sz="1100" b="1">
                <a:solidFill>
                  <a:srgbClr val="5F6670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37376"/>
            <a:ext cx="10515600" cy="1828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900" b="0">
                <a:solidFill>
                  <a:srgbClr val="5F6670"/>
                </a:solidFill>
                <a:latin typeface="Aptos"/>
              </a:defRPr>
            </a:pPr>
            <a:r>
              <a:t>QFlow  •  Review 1  •  MERN Stack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51560"/>
            <a:ext cx="3794759" cy="438912"/>
          </a:xfrm>
          <a:prstGeom prst="rect">
            <a:avLst/>
          </a:prstGeom>
          <a:solidFill>
            <a:srgbClr val="374F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15568"/>
            <a:ext cx="3703320" cy="256032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Method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051560"/>
            <a:ext cx="3794759" cy="438912"/>
          </a:xfrm>
          <a:prstGeom prst="rect">
            <a:avLst/>
          </a:prstGeom>
          <a:solidFill>
            <a:srgbClr val="374F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1959" y="1115568"/>
            <a:ext cx="3703320" cy="256032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Endpoint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999" y="1051560"/>
            <a:ext cx="3794759" cy="438912"/>
          </a:xfrm>
          <a:prstGeom prst="rect">
            <a:avLst/>
          </a:prstGeom>
          <a:solidFill>
            <a:srgbClr val="374F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9" y="1115568"/>
            <a:ext cx="3703320" cy="256032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490472"/>
            <a:ext cx="3794759" cy="374200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517904"/>
            <a:ext cx="3703320" cy="3284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980" b="0">
                <a:solidFill>
                  <a:srgbClr val="1C2026"/>
                </a:solidFill>
                <a:latin typeface="Aptos"/>
              </a:defRPr>
            </a:pPr>
            <a:r>
              <a:t>POST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490472"/>
            <a:ext cx="3794759" cy="374200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1959" y="1517904"/>
            <a:ext cx="3703320" cy="3284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980" b="0">
                <a:solidFill>
                  <a:srgbClr val="1C2026"/>
                </a:solidFill>
                <a:latin typeface="Aptos"/>
              </a:defRPr>
            </a:pPr>
            <a:r>
              <a:t>/api/auth/login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0999" y="1490472"/>
            <a:ext cx="3794759" cy="374200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9" y="1517904"/>
            <a:ext cx="3703320" cy="3284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980" b="0">
                <a:solidFill>
                  <a:srgbClr val="1C2026"/>
                </a:solidFill>
                <a:latin typeface="Aptos"/>
              </a:defRPr>
            </a:pPr>
            <a:r>
              <a:t>Staff/Admin login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1864672"/>
            <a:ext cx="3794759" cy="374200"/>
          </a:xfrm>
          <a:prstGeom prst="rect">
            <a:avLst/>
          </a:prstGeom>
          <a:solidFill>
            <a:srgbClr val="F2F4F7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1892104"/>
            <a:ext cx="3703320" cy="3284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980" b="0">
                <a:solidFill>
                  <a:srgbClr val="1C2026"/>
                </a:solidFill>
                <a:latin typeface="Aptos"/>
              </a:defRPr>
            </a:pPr>
            <a:r>
              <a:t>GET / POST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1864672"/>
            <a:ext cx="3794759" cy="374200"/>
          </a:xfrm>
          <a:prstGeom prst="rect">
            <a:avLst/>
          </a:prstGeom>
          <a:solidFill>
            <a:srgbClr val="F2F4F7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51959" y="1892104"/>
            <a:ext cx="3703320" cy="3284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980" b="0">
                <a:solidFill>
                  <a:srgbClr val="1C2026"/>
                </a:solidFill>
                <a:latin typeface="Aptos"/>
              </a:defRPr>
            </a:pPr>
            <a:r>
              <a:t>/api/tokens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00999" y="1864672"/>
            <a:ext cx="3794759" cy="374200"/>
          </a:xfrm>
          <a:prstGeom prst="rect">
            <a:avLst/>
          </a:prstGeom>
          <a:solidFill>
            <a:srgbClr val="F2F4F7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19" y="1892104"/>
            <a:ext cx="3703320" cy="3284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980" b="0">
                <a:solidFill>
                  <a:srgbClr val="1C2026"/>
                </a:solidFill>
                <a:latin typeface="Aptos"/>
              </a:defRPr>
            </a:pPr>
            <a:r>
              <a:t>View / create tokens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2238873"/>
            <a:ext cx="3794759" cy="374200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266305"/>
            <a:ext cx="3703320" cy="3284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980" b="0">
                <a:solidFill>
                  <a:srgbClr val="1C2026"/>
                </a:solidFill>
                <a:latin typeface="Aptos"/>
              </a:defRPr>
            </a:pPr>
            <a:r>
              <a:t>GET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40" y="2238873"/>
            <a:ext cx="3794759" cy="374200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51959" y="2266305"/>
            <a:ext cx="3703320" cy="3284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980" b="0">
                <a:solidFill>
                  <a:srgbClr val="1C2026"/>
                </a:solidFill>
                <a:latin typeface="Aptos"/>
              </a:defRPr>
            </a:pPr>
            <a:r>
              <a:t>/api/tokens/:id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00999" y="2238873"/>
            <a:ext cx="3794759" cy="374200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19" y="2266305"/>
            <a:ext cx="3703320" cy="3284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980" b="0">
                <a:solidFill>
                  <a:srgbClr val="1C2026"/>
                </a:solidFill>
                <a:latin typeface="Aptos"/>
              </a:defRPr>
            </a:pPr>
            <a:r>
              <a:t>Token details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2613073"/>
            <a:ext cx="3794759" cy="374200"/>
          </a:xfrm>
          <a:prstGeom prst="rect">
            <a:avLst/>
          </a:prstGeom>
          <a:solidFill>
            <a:srgbClr val="F2F4F7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2640505"/>
            <a:ext cx="3703320" cy="3284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980" b="0">
                <a:solidFill>
                  <a:srgbClr val="1C2026"/>
                </a:solidFill>
                <a:latin typeface="Aptos"/>
              </a:defRPr>
            </a:pPr>
            <a:r>
              <a:t>POST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06240" y="2613073"/>
            <a:ext cx="3794759" cy="374200"/>
          </a:xfrm>
          <a:prstGeom prst="rect">
            <a:avLst/>
          </a:prstGeom>
          <a:solidFill>
            <a:srgbClr val="F2F4F7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51959" y="2640505"/>
            <a:ext cx="3703320" cy="3284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980" b="0">
                <a:solidFill>
                  <a:srgbClr val="1C2026"/>
                </a:solidFill>
                <a:latin typeface="Aptos"/>
              </a:defRPr>
            </a:pPr>
            <a:r>
              <a:t>/api/tokens/:id/call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00999" y="2613073"/>
            <a:ext cx="3794759" cy="374200"/>
          </a:xfrm>
          <a:prstGeom prst="rect">
            <a:avLst/>
          </a:prstGeom>
          <a:solidFill>
            <a:srgbClr val="F2F4F7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19" y="2640505"/>
            <a:ext cx="3703320" cy="3284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980" b="0">
                <a:solidFill>
                  <a:srgbClr val="1C2026"/>
                </a:solidFill>
                <a:latin typeface="Aptos"/>
              </a:defRPr>
            </a:pPr>
            <a:r>
              <a:t>Call token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2987274"/>
            <a:ext cx="3794759" cy="374200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3014706"/>
            <a:ext cx="3703320" cy="3284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980" b="0">
                <a:solidFill>
                  <a:srgbClr val="1C2026"/>
                </a:solidFill>
                <a:latin typeface="Aptos"/>
              </a:defRPr>
            </a:pPr>
            <a:r>
              <a:t>POST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06240" y="2987274"/>
            <a:ext cx="3794759" cy="374200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51959" y="3014706"/>
            <a:ext cx="3703320" cy="3284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980" b="0">
                <a:solidFill>
                  <a:srgbClr val="1C2026"/>
                </a:solidFill>
                <a:latin typeface="Aptos"/>
              </a:defRPr>
            </a:pPr>
            <a:r>
              <a:t>/api/tokens/:id/start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00999" y="2987274"/>
            <a:ext cx="3794759" cy="374200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19" y="3014706"/>
            <a:ext cx="3703320" cy="3284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980" b="0">
                <a:solidFill>
                  <a:srgbClr val="1C2026"/>
                </a:solidFill>
                <a:latin typeface="Aptos"/>
              </a:defRPr>
            </a:pPr>
            <a:r>
              <a:t>Start service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3361475"/>
            <a:ext cx="3794759" cy="374200"/>
          </a:xfrm>
          <a:prstGeom prst="rect">
            <a:avLst/>
          </a:prstGeom>
          <a:solidFill>
            <a:srgbClr val="F2F4F7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3388907"/>
            <a:ext cx="3703320" cy="3284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980" b="0">
                <a:solidFill>
                  <a:srgbClr val="1C2026"/>
                </a:solidFill>
                <a:latin typeface="Aptos"/>
              </a:defRPr>
            </a:pPr>
            <a:r>
              <a:t>POST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06240" y="3361475"/>
            <a:ext cx="3794759" cy="374200"/>
          </a:xfrm>
          <a:prstGeom prst="rect">
            <a:avLst/>
          </a:prstGeom>
          <a:solidFill>
            <a:srgbClr val="F2F4F7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51959" y="3388907"/>
            <a:ext cx="3703320" cy="3284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980" b="0">
                <a:solidFill>
                  <a:srgbClr val="1C2026"/>
                </a:solidFill>
                <a:latin typeface="Aptos"/>
              </a:defRPr>
            </a:pPr>
            <a:r>
              <a:t>/api/tokens/:id/complete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00999" y="3361475"/>
            <a:ext cx="3794759" cy="374200"/>
          </a:xfrm>
          <a:prstGeom prst="rect">
            <a:avLst/>
          </a:prstGeom>
          <a:solidFill>
            <a:srgbClr val="F2F4F7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46719" y="3388907"/>
            <a:ext cx="3703320" cy="3284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980" b="0">
                <a:solidFill>
                  <a:srgbClr val="1C2026"/>
                </a:solidFill>
                <a:latin typeface="Aptos"/>
              </a:defRPr>
            </a:pPr>
            <a:r>
              <a:t>Complete service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3735675"/>
            <a:ext cx="3794759" cy="374200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3763107"/>
            <a:ext cx="3703320" cy="3284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980" b="0">
                <a:solidFill>
                  <a:srgbClr val="1C2026"/>
                </a:solidFill>
                <a:latin typeface="Aptos"/>
              </a:defRPr>
            </a:pPr>
            <a:r>
              <a:t>POST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06240" y="3735675"/>
            <a:ext cx="3794759" cy="374200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51959" y="3763107"/>
            <a:ext cx="3703320" cy="3284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980" b="0">
                <a:solidFill>
                  <a:srgbClr val="1C2026"/>
                </a:solidFill>
                <a:latin typeface="Aptos"/>
              </a:defRPr>
            </a:pPr>
            <a:r>
              <a:t>/api/tokens/:id/skip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00999" y="3735675"/>
            <a:ext cx="3794759" cy="374200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46719" y="3763107"/>
            <a:ext cx="3703320" cy="3284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980" b="0">
                <a:solidFill>
                  <a:srgbClr val="1C2026"/>
                </a:solidFill>
                <a:latin typeface="Aptos"/>
              </a:defRPr>
            </a:pPr>
            <a:r>
              <a:t>Skip token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1480" y="4109876"/>
            <a:ext cx="3794759" cy="374200"/>
          </a:xfrm>
          <a:prstGeom prst="rect">
            <a:avLst/>
          </a:prstGeom>
          <a:solidFill>
            <a:srgbClr val="F2F4F7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4137308"/>
            <a:ext cx="3703320" cy="3284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980" b="0">
                <a:solidFill>
                  <a:srgbClr val="1C2026"/>
                </a:solidFill>
                <a:latin typeface="Aptos"/>
              </a:defRPr>
            </a:pPr>
            <a:r>
              <a:t>POST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06240" y="4109876"/>
            <a:ext cx="3794759" cy="374200"/>
          </a:xfrm>
          <a:prstGeom prst="rect">
            <a:avLst/>
          </a:prstGeom>
          <a:solidFill>
            <a:srgbClr val="F2F4F7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51959" y="4137308"/>
            <a:ext cx="3703320" cy="3284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980" b="0">
                <a:solidFill>
                  <a:srgbClr val="1C2026"/>
                </a:solidFill>
                <a:latin typeface="Aptos"/>
              </a:defRPr>
            </a:pPr>
            <a:r>
              <a:t>/api/tokens/:id/transfer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000999" y="4109876"/>
            <a:ext cx="3794759" cy="374200"/>
          </a:xfrm>
          <a:prstGeom prst="rect">
            <a:avLst/>
          </a:prstGeom>
          <a:solidFill>
            <a:srgbClr val="F2F4F7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046719" y="4137308"/>
            <a:ext cx="3703320" cy="3284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980" b="0">
                <a:solidFill>
                  <a:srgbClr val="1C2026"/>
                </a:solidFill>
                <a:latin typeface="Aptos"/>
              </a:defRPr>
            </a:pPr>
            <a:r>
              <a:t>Transfer token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11480" y="4484076"/>
            <a:ext cx="3794759" cy="374200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" y="4511508"/>
            <a:ext cx="3703320" cy="3284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980" b="0">
                <a:solidFill>
                  <a:srgbClr val="1C2026"/>
                </a:solidFill>
                <a:latin typeface="Aptos"/>
              </a:defRPr>
            </a:pPr>
            <a:r>
              <a:t>GET / POST / PUT / DELETE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206240" y="4484076"/>
            <a:ext cx="3794759" cy="374200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251959" y="4511508"/>
            <a:ext cx="3703320" cy="3284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980" b="0">
                <a:solidFill>
                  <a:srgbClr val="1C2026"/>
                </a:solidFill>
                <a:latin typeface="Aptos"/>
              </a:defRPr>
            </a:pPr>
            <a:r>
              <a:t>/api/counters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000999" y="4484076"/>
            <a:ext cx="3794759" cy="374200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046719" y="4511508"/>
            <a:ext cx="3703320" cy="3284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980" b="0">
                <a:solidFill>
                  <a:srgbClr val="1C2026"/>
                </a:solidFill>
                <a:latin typeface="Aptos"/>
              </a:defRPr>
            </a:pPr>
            <a:r>
              <a:t>Manage counters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4858277"/>
            <a:ext cx="3794759" cy="374200"/>
          </a:xfrm>
          <a:prstGeom prst="rect">
            <a:avLst/>
          </a:prstGeom>
          <a:solidFill>
            <a:srgbClr val="F2F4F7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7200" y="4885709"/>
            <a:ext cx="3703320" cy="3284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980" b="0">
                <a:solidFill>
                  <a:srgbClr val="1C2026"/>
                </a:solidFill>
                <a:latin typeface="Aptos"/>
              </a:defRPr>
            </a:pPr>
            <a:r>
              <a:t>GET / POST / PUT / DELETE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206240" y="4858277"/>
            <a:ext cx="3794759" cy="374200"/>
          </a:xfrm>
          <a:prstGeom prst="rect">
            <a:avLst/>
          </a:prstGeom>
          <a:solidFill>
            <a:srgbClr val="F2F4F7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251959" y="4885709"/>
            <a:ext cx="3703320" cy="3284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980" b="0">
                <a:solidFill>
                  <a:srgbClr val="1C2026"/>
                </a:solidFill>
                <a:latin typeface="Aptos"/>
              </a:defRPr>
            </a:pPr>
            <a:r>
              <a:t>/api/services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000999" y="4858277"/>
            <a:ext cx="3794759" cy="374200"/>
          </a:xfrm>
          <a:prstGeom prst="rect">
            <a:avLst/>
          </a:prstGeom>
          <a:solidFill>
            <a:srgbClr val="F2F4F7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046719" y="4885709"/>
            <a:ext cx="3703320" cy="3284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980" b="0">
                <a:solidFill>
                  <a:srgbClr val="1C2026"/>
                </a:solidFill>
                <a:latin typeface="Aptos"/>
              </a:defRPr>
            </a:pPr>
            <a:r>
              <a:t>Manage services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11480" y="5232478"/>
            <a:ext cx="3794759" cy="374200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57200" y="5259910"/>
            <a:ext cx="3703320" cy="3284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980" b="0">
                <a:solidFill>
                  <a:srgbClr val="1C2026"/>
                </a:solidFill>
                <a:latin typeface="Aptos"/>
              </a:defRPr>
            </a:pPr>
            <a:r>
              <a:t>GET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206240" y="5232478"/>
            <a:ext cx="3794759" cy="374200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251959" y="5259910"/>
            <a:ext cx="3703320" cy="3284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980" b="0">
                <a:solidFill>
                  <a:srgbClr val="1C2026"/>
                </a:solidFill>
                <a:latin typeface="Aptos"/>
              </a:defRPr>
            </a:pPr>
            <a:r>
              <a:t>/api/queue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000999" y="5232478"/>
            <a:ext cx="3794759" cy="374200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046719" y="5259910"/>
            <a:ext cx="3703320" cy="3284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980" b="0">
                <a:solidFill>
                  <a:srgbClr val="1C2026"/>
                </a:solidFill>
                <a:latin typeface="Aptos"/>
              </a:defRPr>
            </a:pPr>
            <a:r>
              <a:t>Current active queue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11480" y="5606678"/>
            <a:ext cx="3794759" cy="374200"/>
          </a:xfrm>
          <a:prstGeom prst="rect">
            <a:avLst/>
          </a:prstGeom>
          <a:solidFill>
            <a:srgbClr val="F2F4F7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57200" y="5634110"/>
            <a:ext cx="3703320" cy="3284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980" b="0">
                <a:solidFill>
                  <a:srgbClr val="1C2026"/>
                </a:solidFill>
                <a:latin typeface="Aptos"/>
              </a:defRPr>
            </a:pPr>
            <a:r>
              <a:t>GET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206240" y="5606678"/>
            <a:ext cx="3794759" cy="374200"/>
          </a:xfrm>
          <a:prstGeom prst="rect">
            <a:avLst/>
          </a:prstGeom>
          <a:solidFill>
            <a:srgbClr val="F2F4F7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251959" y="5634110"/>
            <a:ext cx="3703320" cy="3284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980" b="0">
                <a:solidFill>
                  <a:srgbClr val="1C2026"/>
                </a:solidFill>
                <a:latin typeface="Aptos"/>
              </a:defRPr>
            </a:pPr>
            <a:r>
              <a:t>/api/analytics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000999" y="5606678"/>
            <a:ext cx="3794759" cy="374200"/>
          </a:xfrm>
          <a:prstGeom prst="rect">
            <a:avLst/>
          </a:prstGeom>
          <a:solidFill>
            <a:srgbClr val="F2F4F7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046719" y="5634110"/>
            <a:ext cx="3703320" cy="3284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980" b="0">
                <a:solidFill>
                  <a:srgbClr val="1C2026"/>
                </a:solidFill>
                <a:latin typeface="Aptos"/>
              </a:defRPr>
            </a:pPr>
            <a:r>
              <a:t>Queue analytics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11480" y="5980879"/>
            <a:ext cx="3794759" cy="374200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57200" y="6008311"/>
            <a:ext cx="3703320" cy="3284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980" b="0">
                <a:solidFill>
                  <a:srgbClr val="1C2026"/>
                </a:solidFill>
                <a:latin typeface="Aptos"/>
              </a:defRPr>
            </a:pPr>
            <a:r>
              <a:t>GET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206240" y="5980879"/>
            <a:ext cx="3794759" cy="374200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251959" y="6008311"/>
            <a:ext cx="3703320" cy="3284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980" b="0">
                <a:solidFill>
                  <a:srgbClr val="1C2026"/>
                </a:solidFill>
                <a:latin typeface="Aptos"/>
              </a:defRPr>
            </a:pPr>
            <a:r>
              <a:t>/api/health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000999" y="5980879"/>
            <a:ext cx="3794759" cy="374200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046719" y="6008311"/>
            <a:ext cx="3703320" cy="3284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980" b="0">
                <a:solidFill>
                  <a:srgbClr val="1C2026"/>
                </a:solidFill>
                <a:latin typeface="Aptos"/>
              </a:defRPr>
            </a:pPr>
            <a:r>
              <a:t>Server health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73152" cy="566928"/>
          </a:xfrm>
          <a:prstGeom prst="rect">
            <a:avLst/>
          </a:prstGeom>
          <a:solidFill>
            <a:srgbClr val="374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10896"/>
            <a:ext cx="10058400" cy="6400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2800" b="1">
                <a:solidFill>
                  <a:srgbClr val="1C2026"/>
                </a:solidFill>
                <a:latin typeface="Aptos"/>
              </a:defRPr>
            </a:pPr>
            <a:r>
              <a:t>Module-wise Implementation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29768"/>
            <a:ext cx="502920" cy="27432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r">
              <a:defRPr sz="1100" b="1">
                <a:solidFill>
                  <a:srgbClr val="5F6670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37376"/>
            <a:ext cx="10515600" cy="1828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900" b="0">
                <a:solidFill>
                  <a:srgbClr val="5F6670"/>
                </a:solidFill>
                <a:latin typeface="Aptos"/>
              </a:defRPr>
            </a:pPr>
            <a:r>
              <a:t>QFlow  •  Review 1  •  MERN Stack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43000"/>
            <a:ext cx="3733799" cy="438912"/>
          </a:xfrm>
          <a:prstGeom prst="rect">
            <a:avLst/>
          </a:prstGeom>
          <a:solidFill>
            <a:srgbClr val="374F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07008"/>
            <a:ext cx="3642359" cy="256032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Module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36720" y="1143000"/>
            <a:ext cx="3733799" cy="438912"/>
          </a:xfrm>
          <a:prstGeom prst="rect">
            <a:avLst/>
          </a:prstGeom>
          <a:solidFill>
            <a:srgbClr val="374F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82439" y="1207008"/>
            <a:ext cx="3642359" cy="256032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Status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70520" y="1143000"/>
            <a:ext cx="3733799" cy="438912"/>
          </a:xfrm>
          <a:prstGeom prst="rect">
            <a:avLst/>
          </a:prstGeom>
          <a:solidFill>
            <a:srgbClr val="374F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16240" y="1207008"/>
            <a:ext cx="3642359" cy="256032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581912"/>
            <a:ext cx="3733799" cy="417298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609344"/>
            <a:ext cx="3642359" cy="371578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Customer Mobile Portal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36720" y="1581912"/>
            <a:ext cx="3733799" cy="417298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2439" y="1609344"/>
            <a:ext cx="3642359" cy="371578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COMPLETED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70520" y="1581912"/>
            <a:ext cx="3733799" cy="417298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16240" y="1609344"/>
            <a:ext cx="3642359" cy="371578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Working on mobile through LAN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1999210"/>
            <a:ext cx="3733799" cy="417298"/>
          </a:xfrm>
          <a:prstGeom prst="rect">
            <a:avLst/>
          </a:prstGeom>
          <a:solidFill>
            <a:srgbClr val="F2F4F7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026642"/>
            <a:ext cx="3642359" cy="371578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Token Sequence Generator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36720" y="1999210"/>
            <a:ext cx="3733799" cy="417298"/>
          </a:xfrm>
          <a:prstGeom prst="rect">
            <a:avLst/>
          </a:prstGeom>
          <a:solidFill>
            <a:srgbClr val="F2F4F7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82439" y="2026642"/>
            <a:ext cx="3642359" cy="371578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COMPLETED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70520" y="1999210"/>
            <a:ext cx="3733799" cy="417298"/>
          </a:xfrm>
          <a:prstGeom prst="rect">
            <a:avLst/>
          </a:prstGeom>
          <a:solidFill>
            <a:srgbClr val="F2F4F7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6240" y="2026642"/>
            <a:ext cx="3642359" cy="371578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Atomic A101, A102...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416509"/>
            <a:ext cx="3733799" cy="417298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2443941"/>
            <a:ext cx="3642359" cy="371578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Real-Time Socket Sync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36720" y="2416509"/>
            <a:ext cx="3733799" cy="417298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82439" y="2443941"/>
            <a:ext cx="3642359" cy="371578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COMPLETED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70520" y="2416509"/>
            <a:ext cx="3733799" cy="417298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16240" y="2443941"/>
            <a:ext cx="3642359" cy="371578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Live mobile + desktop updates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2833808"/>
            <a:ext cx="3733799" cy="417298"/>
          </a:xfrm>
          <a:prstGeom prst="rect">
            <a:avLst/>
          </a:prstGeom>
          <a:solidFill>
            <a:srgbClr val="F2F4F7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2861240"/>
            <a:ext cx="3642359" cy="371578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Staff Dashboard &amp; Actions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36720" y="2833808"/>
            <a:ext cx="3733799" cy="417298"/>
          </a:xfrm>
          <a:prstGeom prst="rect">
            <a:avLst/>
          </a:prstGeom>
          <a:solidFill>
            <a:srgbClr val="F2F4F7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82439" y="2861240"/>
            <a:ext cx="3642359" cy="371578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COMPLETED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70520" y="2833808"/>
            <a:ext cx="3733799" cy="417298"/>
          </a:xfrm>
          <a:prstGeom prst="rect">
            <a:avLst/>
          </a:prstGeom>
          <a:solidFill>
            <a:srgbClr val="F2F4F7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16240" y="2861240"/>
            <a:ext cx="3642359" cy="371578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Call, Start, Complete, Skip, Transfer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3251107"/>
            <a:ext cx="3733799" cy="417298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3278539"/>
            <a:ext cx="3642359" cy="371578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Counter Management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36720" y="3251107"/>
            <a:ext cx="3733799" cy="417298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82439" y="3278539"/>
            <a:ext cx="3642359" cy="371578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COMPLETED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70520" y="3251107"/>
            <a:ext cx="3733799" cy="417298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16240" y="3278539"/>
            <a:ext cx="3642359" cy="371578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Create, activate, deactivate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3668406"/>
            <a:ext cx="3733799" cy="417298"/>
          </a:xfrm>
          <a:prstGeom prst="rect">
            <a:avLst/>
          </a:prstGeom>
          <a:solidFill>
            <a:srgbClr val="F2F4F7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3695838"/>
            <a:ext cx="3642359" cy="371578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Service Management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36720" y="3668406"/>
            <a:ext cx="3733799" cy="417298"/>
          </a:xfrm>
          <a:prstGeom prst="rect">
            <a:avLst/>
          </a:prstGeom>
          <a:solidFill>
            <a:srgbClr val="F2F4F7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82439" y="3695838"/>
            <a:ext cx="3642359" cy="371578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COMPLETED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70520" y="3668406"/>
            <a:ext cx="3733799" cy="417298"/>
          </a:xfrm>
          <a:prstGeom prst="rect">
            <a:avLst/>
          </a:prstGeom>
          <a:solidFill>
            <a:srgbClr val="F2F4F7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16240" y="3695838"/>
            <a:ext cx="3642359" cy="371578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Create, update, deactivate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4085705"/>
            <a:ext cx="3733799" cy="417298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4113137"/>
            <a:ext cx="3642359" cy="371578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AI Prediction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36720" y="4085705"/>
            <a:ext cx="3733799" cy="417298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82439" y="4113137"/>
            <a:ext cx="3642359" cy="371578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COMPLETED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970520" y="4085705"/>
            <a:ext cx="3733799" cy="417298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16240" y="4113137"/>
            <a:ext cx="3642359" cy="371578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500-record weighted regression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4503004"/>
            <a:ext cx="3733799" cy="417298"/>
          </a:xfrm>
          <a:prstGeom prst="rect">
            <a:avLst/>
          </a:prstGeom>
          <a:solidFill>
            <a:srgbClr val="F2F4F7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4530436"/>
            <a:ext cx="3642359" cy="371578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Counter Recommendation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36720" y="4503004"/>
            <a:ext cx="3733799" cy="417298"/>
          </a:xfrm>
          <a:prstGeom prst="rect">
            <a:avLst/>
          </a:prstGeom>
          <a:solidFill>
            <a:srgbClr val="F2F4F7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82439" y="4530436"/>
            <a:ext cx="3642359" cy="371578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COMPLETED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970520" y="4503004"/>
            <a:ext cx="3733799" cy="417298"/>
          </a:xfrm>
          <a:prstGeom prst="rect">
            <a:avLst/>
          </a:prstGeom>
          <a:solidFill>
            <a:srgbClr val="F2F4F7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016240" y="4530436"/>
            <a:ext cx="3642359" cy="371578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Dynamic workload scoring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2920" y="4920303"/>
            <a:ext cx="3733799" cy="417298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8640" y="4947735"/>
            <a:ext cx="3642359" cy="371578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MongoDB Analytics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236720" y="4920303"/>
            <a:ext cx="3733799" cy="417298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282439" y="4947735"/>
            <a:ext cx="3642359" cy="371578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COMPLETED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970520" y="4920303"/>
            <a:ext cx="3733799" cy="417298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016240" y="4947735"/>
            <a:ext cx="3642359" cy="371578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Aggregation-based charts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2920" y="5337602"/>
            <a:ext cx="3733799" cy="417298"/>
          </a:xfrm>
          <a:prstGeom prst="rect">
            <a:avLst/>
          </a:prstGeom>
          <a:solidFill>
            <a:srgbClr val="F2F4F7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48640" y="5365034"/>
            <a:ext cx="3642359" cy="371578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Physical QR Generator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236720" y="5337602"/>
            <a:ext cx="3733799" cy="417298"/>
          </a:xfrm>
          <a:prstGeom prst="rect">
            <a:avLst/>
          </a:prstGeom>
          <a:solidFill>
            <a:srgbClr val="F2F4F7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282439" y="5365034"/>
            <a:ext cx="3642359" cy="371578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COMPLETED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970520" y="5337602"/>
            <a:ext cx="3733799" cy="417298"/>
          </a:xfrm>
          <a:prstGeom prst="rect">
            <a:avLst/>
          </a:prstGeom>
          <a:solidFill>
            <a:srgbClr val="F2F4F7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016240" y="5365034"/>
            <a:ext cx="3642359" cy="371578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PNG, SVG and A4 poster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02920" y="5754901"/>
            <a:ext cx="3733799" cy="417298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48640" y="5782333"/>
            <a:ext cx="3642359" cy="371578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Authentication &amp; RBAC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236720" y="5754901"/>
            <a:ext cx="3733799" cy="417298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282439" y="5782333"/>
            <a:ext cx="3642359" cy="371578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COMPLETED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970520" y="5754901"/>
            <a:ext cx="3733799" cy="417298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016240" y="5782333"/>
            <a:ext cx="3642359" cy="371578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050" b="0">
                <a:solidFill>
                  <a:srgbClr val="1C2026"/>
                </a:solidFill>
                <a:latin typeface="Aptos"/>
              </a:defRPr>
            </a:pPr>
            <a:r>
              <a:t>JWT + password hashing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1520" y="6144768"/>
            <a:ext cx="10698480" cy="201168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ctr">
              <a:defRPr sz="1100" b="1">
                <a:solidFill>
                  <a:srgbClr val="5F6670"/>
                </a:solidFill>
                <a:latin typeface="Aptos"/>
              </a:defRPr>
            </a:pPr>
            <a:r>
              <a:t>Overall: 100% of the defined Review 1 scope is operational.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73152" cy="566928"/>
          </a:xfrm>
          <a:prstGeom prst="rect">
            <a:avLst/>
          </a:prstGeom>
          <a:solidFill>
            <a:srgbClr val="374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10896"/>
            <a:ext cx="10058400" cy="6400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2800" b="1">
                <a:solidFill>
                  <a:srgbClr val="1C2026"/>
                </a:solidFill>
                <a:latin typeface="Aptos"/>
              </a:defRPr>
            </a:pPr>
            <a:r>
              <a:t>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29768"/>
            <a:ext cx="502920" cy="27432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r">
              <a:defRPr sz="1100" b="1">
                <a:solidFill>
                  <a:srgbClr val="5F6670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37376"/>
            <a:ext cx="10515600" cy="1828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900" b="0">
                <a:solidFill>
                  <a:srgbClr val="5F6670"/>
                </a:solidFill>
                <a:latin typeface="Aptos"/>
              </a:defRPr>
            </a:pPr>
            <a:r>
              <a:t>QFlow  •  Review 1  •  MERN Stack Project</a:t>
            </a:r>
          </a:p>
        </p:txBody>
      </p:sp>
      <p:pic>
        <p:nvPicPr>
          <p:cNvPr id="6" name="Picture 5" descr="03_screen_customer_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0" y="1220000"/>
            <a:ext cx="3550000" cy="2200000"/>
          </a:xfrm>
          <a:prstGeom prst="rect">
            <a:avLst/>
          </a:prstGeom>
        </p:spPr>
      </p:pic>
      <p:pic>
        <p:nvPicPr>
          <p:cNvPr id="7" name="Picture 6" descr="04_screen_token_stat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000" y="1220000"/>
            <a:ext cx="3550000" cy="2200000"/>
          </a:xfrm>
          <a:prstGeom prst="rect">
            <a:avLst/>
          </a:prstGeom>
        </p:spPr>
      </p:pic>
      <p:pic>
        <p:nvPicPr>
          <p:cNvPr id="8" name="Picture 7" descr="05_screen_your_tur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0000" y="1220000"/>
            <a:ext cx="3550000" cy="2200000"/>
          </a:xfrm>
          <a:prstGeom prst="rect">
            <a:avLst/>
          </a:prstGeom>
        </p:spPr>
      </p:pic>
      <p:pic>
        <p:nvPicPr>
          <p:cNvPr id="9" name="Picture 8" descr="06_screen_staff_log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000" y="3620000"/>
            <a:ext cx="3550000" cy="2200000"/>
          </a:xfrm>
          <a:prstGeom prst="rect">
            <a:avLst/>
          </a:prstGeom>
        </p:spPr>
      </p:pic>
      <p:pic>
        <p:nvPicPr>
          <p:cNvPr id="10" name="Picture 9" descr="07_screen_staff_dashbo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0000" y="3620000"/>
            <a:ext cx="3550000" cy="2200000"/>
          </a:xfrm>
          <a:prstGeom prst="rect">
            <a:avLst/>
          </a:prstGeom>
        </p:spPr>
      </p:pic>
      <p:pic>
        <p:nvPicPr>
          <p:cNvPr id="11" name="Picture 10" descr="08_screen_queue_count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0000" y="3620000"/>
            <a:ext cx="3550000" cy="2200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73152" cy="566928"/>
          </a:xfrm>
          <a:prstGeom prst="rect">
            <a:avLst/>
          </a:prstGeom>
          <a:solidFill>
            <a:srgbClr val="374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10896"/>
            <a:ext cx="10058400" cy="6400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2800" b="1">
                <a:solidFill>
                  <a:srgbClr val="1C2026"/>
                </a:solidFill>
                <a:latin typeface="Aptos"/>
              </a:defRPr>
            </a:pPr>
            <a:r>
              <a:t>Challenges Faced &amp;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29768"/>
            <a:ext cx="502920" cy="27432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r">
              <a:defRPr sz="1100" b="1">
                <a:solidFill>
                  <a:srgbClr val="5F6670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37376"/>
            <a:ext cx="10515600" cy="1828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900" b="0">
                <a:solidFill>
                  <a:srgbClr val="5F6670"/>
                </a:solidFill>
                <a:latin typeface="Aptos"/>
              </a:defRPr>
            </a:pPr>
            <a:r>
              <a:t>QFlow  •  Review 1  •  MERN Stack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5623560" cy="438912"/>
          </a:xfrm>
          <a:prstGeom prst="rect">
            <a:avLst/>
          </a:prstGeom>
          <a:solidFill>
            <a:srgbClr val="374F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61288"/>
            <a:ext cx="5532120" cy="256032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Challenge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1097280"/>
            <a:ext cx="5623560" cy="438912"/>
          </a:xfrm>
          <a:prstGeom prst="rect">
            <a:avLst/>
          </a:prstGeom>
          <a:solidFill>
            <a:srgbClr val="374F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1161288"/>
            <a:ext cx="5532120" cy="256032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36192"/>
            <a:ext cx="5623560" cy="963777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563624"/>
            <a:ext cx="5532120" cy="918057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130" b="0">
                <a:solidFill>
                  <a:srgbClr val="1C2026"/>
                </a:solidFill>
                <a:latin typeface="Aptos"/>
              </a:defRPr>
            </a:pPr>
            <a:r>
              <a:t>Phone could not directly reach backend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536192"/>
            <a:ext cx="5623560" cy="963777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563624"/>
            <a:ext cx="5532120" cy="918057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130" b="0">
                <a:solidFill>
                  <a:srgbClr val="1C2026"/>
                </a:solidFill>
                <a:latin typeface="Aptos"/>
              </a:defRPr>
            </a:pPr>
            <a:r>
              <a:t>Vite reverse proxy forwards /api and /socket.io on the LAN-facing port.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499969"/>
            <a:ext cx="5623560" cy="963777"/>
          </a:xfrm>
          <a:prstGeom prst="rect">
            <a:avLst/>
          </a:prstGeom>
          <a:solidFill>
            <a:srgbClr val="F2F4F7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527401"/>
            <a:ext cx="5532120" cy="918057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130" b="0">
                <a:solidFill>
                  <a:srgbClr val="1C2026"/>
                </a:solidFill>
                <a:latin typeface="Aptos"/>
              </a:defRPr>
            </a:pPr>
            <a:r>
              <a:t>Wrong LAN IP from virtual adapters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2499969"/>
            <a:ext cx="5623560" cy="963777"/>
          </a:xfrm>
          <a:prstGeom prst="rect">
            <a:avLst/>
          </a:prstGeom>
          <a:solidFill>
            <a:srgbClr val="F2F4F7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2527401"/>
            <a:ext cx="5532120" cy="918057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130" b="0">
                <a:solidFill>
                  <a:srgbClr val="1C2026"/>
                </a:solidFill>
                <a:latin typeface="Aptos"/>
              </a:defRPr>
            </a:pPr>
            <a:r>
              <a:t>Filter virtual / WSL / loopback adapters and prioritize Wi-Fi/Ethernet.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463747"/>
            <a:ext cx="5623560" cy="963777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491179"/>
            <a:ext cx="5532120" cy="918057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130" b="0">
                <a:solidFill>
                  <a:srgbClr val="1C2026"/>
                </a:solidFill>
                <a:latin typeface="Aptos"/>
              </a:defRPr>
            </a:pPr>
            <a:r>
              <a:t>MongoDB standalone did not support transactions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60" y="3463747"/>
            <a:ext cx="5623560" cy="963777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3491179"/>
            <a:ext cx="5532120" cy="918057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130" b="0">
                <a:solidFill>
                  <a:srgbClr val="1C2026"/>
                </a:solidFill>
                <a:latin typeface="Aptos"/>
              </a:defRPr>
            </a:pPr>
            <a:r>
              <a:t>Use atomic findOneAndUpdate checks for safe token claiming.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427524"/>
            <a:ext cx="5623560" cy="963777"/>
          </a:xfrm>
          <a:prstGeom prst="rect">
            <a:avLst/>
          </a:prstGeom>
          <a:solidFill>
            <a:srgbClr val="F2F4F7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454956"/>
            <a:ext cx="5532120" cy="918057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130" b="0">
                <a:solidFill>
                  <a:srgbClr val="1C2026"/>
                </a:solidFill>
                <a:latin typeface="Aptos"/>
              </a:defRPr>
            </a:pPr>
            <a:r>
              <a:t>Concurrent bookings could duplicate tokens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80760" y="4427524"/>
            <a:ext cx="5623560" cy="963777"/>
          </a:xfrm>
          <a:prstGeom prst="rect">
            <a:avLst/>
          </a:prstGeom>
          <a:solidFill>
            <a:srgbClr val="F2F4F7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4454956"/>
            <a:ext cx="5532120" cy="918057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130" b="0">
                <a:solidFill>
                  <a:srgbClr val="1C2026"/>
                </a:solidFill>
                <a:latin typeface="Aptos"/>
              </a:defRPr>
            </a:pPr>
            <a:r>
              <a:t>Scan stored token numbers atomically before incrementing.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391302"/>
            <a:ext cx="5623560" cy="963777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418734"/>
            <a:ext cx="5532120" cy="918057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130" b="0">
                <a:solidFill>
                  <a:srgbClr val="1C2026"/>
                </a:solidFill>
                <a:latin typeface="Aptos"/>
              </a:defRPr>
            </a:pPr>
            <a:r>
              <a:t>Socket events could be missed after reconnect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0760" y="5391302"/>
            <a:ext cx="5623560" cy="963777"/>
          </a:xfrm>
          <a:prstGeom prst="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5418734"/>
            <a:ext cx="5532120" cy="918057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130" b="0">
                <a:solidFill>
                  <a:srgbClr val="1C2026"/>
                </a:solidFill>
                <a:latin typeface="Aptos"/>
              </a:defRPr>
            </a:pPr>
            <a:r>
              <a:t>Customer screens refetch current state when Socket.IO reconnects.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73152" cy="566928"/>
          </a:xfrm>
          <a:prstGeom prst="rect">
            <a:avLst/>
          </a:prstGeom>
          <a:solidFill>
            <a:srgbClr val="374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10896"/>
            <a:ext cx="10058400" cy="6400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2800" b="1">
                <a:solidFill>
                  <a:srgbClr val="1C2026"/>
                </a:solidFill>
                <a:latin typeface="Aptos"/>
              </a:defRPr>
            </a:pPr>
            <a:r>
              <a:t>Remaining Work &amp;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29768"/>
            <a:ext cx="502920" cy="27432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r">
              <a:defRPr sz="1100" b="1">
                <a:solidFill>
                  <a:srgbClr val="5F6670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37376"/>
            <a:ext cx="10515600" cy="18288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900" b="0">
                <a:solidFill>
                  <a:srgbClr val="5F6670"/>
                </a:solidFill>
                <a:latin typeface="Aptos"/>
              </a:defRPr>
            </a:pPr>
            <a:r>
              <a:t>QFlow  •  Review 1  •  MERN Stack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97280"/>
            <a:ext cx="534924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61872"/>
            <a:ext cx="4892040" cy="32004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700" b="1">
                <a:solidFill>
                  <a:srgbClr val="374FAA"/>
                </a:solidFill>
                <a:latin typeface="Aptos"/>
              </a:defRPr>
            </a:pPr>
            <a:r>
              <a:t>Remaining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4892040" cy="425196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>
              <a:spcAft>
                <a:spcPts val="500"/>
              </a:spcAft>
              <a:defRPr sz="1450">
                <a:solidFill>
                  <a:srgbClr val="1C2026"/>
                </a:solidFill>
                <a:latin typeface="Aptos"/>
              </a:defRPr>
            </a:pPr>
            <a:r>
              <a:t>• Public TV queue display with audio announcements</a:t>
            </a:r>
          </a:p>
          <a:p>
            <a:pPr>
              <a:spcAft>
                <a:spcPts val="500"/>
              </a:spcAft>
              <a:defRPr sz="1450">
                <a:solidFill>
                  <a:srgbClr val="1C2026"/>
                </a:solidFill>
                <a:latin typeface="Aptos"/>
              </a:defRPr>
            </a:pPr>
            <a:r>
              <a:t>• Automated Jest + Supertest testing</a:t>
            </a:r>
          </a:p>
          <a:p>
            <a:pPr>
              <a:spcAft>
                <a:spcPts val="500"/>
              </a:spcAft>
              <a:defRPr sz="1450">
                <a:solidFill>
                  <a:srgbClr val="1C2026"/>
                </a:solidFill>
                <a:latin typeface="Aptos"/>
              </a:defRPr>
            </a:pPr>
            <a:r>
              <a:t>• Docker deployment setup</a:t>
            </a:r>
          </a:p>
          <a:p>
            <a:pPr>
              <a:spcAft>
                <a:spcPts val="500"/>
              </a:spcAft>
              <a:defRPr sz="1450">
                <a:solidFill>
                  <a:srgbClr val="1C2026"/>
                </a:solidFill>
                <a:latin typeface="Aptos"/>
              </a:defRPr>
            </a:pPr>
            <a:r>
              <a:t>• Future: SMS / WhatsApp notifications</a:t>
            </a:r>
          </a:p>
          <a:p>
            <a:pPr>
              <a:spcAft>
                <a:spcPts val="500"/>
              </a:spcAft>
              <a:defRPr sz="1450">
                <a:solidFill>
                  <a:srgbClr val="1C2026"/>
                </a:solidFill>
                <a:latin typeface="Aptos"/>
              </a:defRPr>
            </a:pPr>
            <a:r>
              <a:t>• Future: real-world ML training data</a:t>
            </a:r>
          </a:p>
          <a:p>
            <a:pPr>
              <a:spcAft>
                <a:spcPts val="500"/>
              </a:spcAft>
              <a:defRPr sz="1450">
                <a:solidFill>
                  <a:srgbClr val="1C2026"/>
                </a:solidFill>
                <a:latin typeface="Aptos"/>
              </a:defRPr>
            </a:pPr>
            <a:r>
              <a:t>• Future: multi-branch support and PWA features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097280"/>
            <a:ext cx="534924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DC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261872"/>
            <a:ext cx="4892040" cy="32004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 algn="l">
              <a:defRPr sz="1700" b="1">
                <a:solidFill>
                  <a:srgbClr val="374FAA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892040" cy="4251960"/>
          </a:xfrm>
          <a:prstGeom prst="rect">
            <a:avLst/>
          </a:prstGeom>
          <a:noFill/>
        </p:spPr>
        <p:txBody>
          <a:bodyPr wrap="square" lIns="72000" rIns="72000" tIns="72000" bIns="72000">
            <a:spAutoFit/>
          </a:bodyPr>
          <a:lstStyle/>
          <a:p>
            <a:pPr>
              <a:spcAft>
                <a:spcPts val="500"/>
              </a:spcAft>
              <a:defRPr sz="1450">
                <a:solidFill>
                  <a:srgbClr val="1C2026"/>
                </a:solidFill>
                <a:latin typeface="Aptos"/>
              </a:defRPr>
            </a:pPr>
            <a:r>
              <a:t>• React Documentation — react.dev</a:t>
            </a:r>
          </a:p>
          <a:p>
            <a:pPr>
              <a:spcAft>
                <a:spcPts val="500"/>
              </a:spcAft>
              <a:defRPr sz="1450">
                <a:solidFill>
                  <a:srgbClr val="1C2026"/>
                </a:solidFill>
                <a:latin typeface="Aptos"/>
              </a:defRPr>
            </a:pPr>
            <a:r>
              <a:t>• Socket.IO Documentation — socket.io/docs/v4</a:t>
            </a:r>
          </a:p>
          <a:p>
            <a:pPr>
              <a:spcAft>
                <a:spcPts val="500"/>
              </a:spcAft>
              <a:defRPr sz="1450">
                <a:solidFill>
                  <a:srgbClr val="1C2026"/>
                </a:solidFill>
                <a:latin typeface="Aptos"/>
              </a:defRPr>
            </a:pPr>
            <a:r>
              <a:t>• Express.js Documentation — expressjs.com</a:t>
            </a:r>
          </a:p>
          <a:p>
            <a:pPr>
              <a:spcAft>
                <a:spcPts val="500"/>
              </a:spcAft>
              <a:defRPr sz="1450">
                <a:solidFill>
                  <a:srgbClr val="1C2026"/>
                </a:solidFill>
                <a:latin typeface="Aptos"/>
              </a:defRPr>
            </a:pPr>
            <a:r>
              <a:t>• Mongoose / MongoDB Documentation — mongoosejs.com/docs</a:t>
            </a:r>
          </a:p>
          <a:p>
            <a:pPr>
              <a:spcAft>
                <a:spcPts val="500"/>
              </a:spcAft>
              <a:defRPr sz="1450">
                <a:solidFill>
                  <a:srgbClr val="1C2026"/>
                </a:solidFill>
                <a:latin typeface="Aptos"/>
              </a:defRPr>
            </a:pPr>
            <a:r>
              <a:t>• Tailwind CSS Documentation — tailwindcss.com/docs</a:t>
            </a:r>
          </a:p>
          <a:p>
            <a:pPr>
              <a:spcAft>
                <a:spcPts val="500"/>
              </a:spcAft>
              <a:defRPr sz="1450">
                <a:solidFill>
                  <a:srgbClr val="1C2026"/>
                </a:solidFill>
                <a:latin typeface="Aptos"/>
              </a:defRPr>
            </a:pPr>
            <a:r>
              <a:t>• Vite Documentation — vitejs.dev/config</a:t>
            </a:r>
          </a:p>
          <a:p>
            <a:pPr>
              <a:spcAft>
                <a:spcPts val="500"/>
              </a:spcAft>
              <a:defRPr sz="1450">
                <a:solidFill>
                  <a:srgbClr val="1C2026"/>
                </a:solidFill>
                <a:latin typeface="Aptos"/>
              </a:defRPr>
            </a:pPr>
            <a:r>
              <a:t>• Review 0 literature references — retain the original submitted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