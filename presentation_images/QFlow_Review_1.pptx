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Spectral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Spectral-regular.fntdata"/><Relationship Id="rId25" Type="http://schemas.openxmlformats.org/officeDocument/2006/relationships/slide" Target="slides/slide18.xml"/><Relationship Id="rId28" Type="http://schemas.openxmlformats.org/officeDocument/2006/relationships/font" Target="fonts/Spectral-italic.fntdata"/><Relationship Id="rId27" Type="http://schemas.openxmlformats.org/officeDocument/2006/relationships/font" Target="fonts/Spectral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Spectral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358340a3252d71f7_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h358340a3252d71f7_5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358340a3252d71f7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358340a3252d71f7_3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358340a3252d71f7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358340a3252d71f7_3_9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358340a3252d71f7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358340a3252d71f7_3_1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358340a3252d71f7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358340a3252d71f7_3_1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358340a3252d71f7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h358340a3252d71f7_3_14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358340a3252d71f7_3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358340a3252d71f7_3_15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358340a3252d71f7_3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h358340a3252d71f7_3_21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358340a3252d71f7_3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h358340a3252d71f7_3_2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358340a3252d71f7_3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h358340a3252d71f7_3_29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358340a3252d71f7_3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h358340a3252d71f7_3_3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358340a3252d71f7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h358340a3252d71f7_3_3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358340a3252d71f7_3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h358340a3252d71f7_3_35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h358340a3252d71f7_3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h358340a3252d71f7_3_4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358340a3252d71f7_3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h358340a3252d71f7_3_53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h358340a3252d71f7_3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h358340a3252d71f7_3_54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h358340a3252d71f7_3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h358340a3252d71f7_3_57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h358340a3252d71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h358340a3252d71f7_0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154510" y="-125809"/>
            <a:ext cx="226298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2366169" y="1085851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.jp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37"/>
          <p:cNvSpPr/>
          <p:nvPr/>
        </p:nvSpPr>
        <p:spPr>
          <a:xfrm>
            <a:off x="0" y="171450"/>
            <a:ext cx="2138639" cy="4978970"/>
          </a:xfrm>
          <a:custGeom>
            <a:rect b="b" l="l" r="r" t="t"/>
            <a:pathLst>
              <a:path extrusionOk="0"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37"/>
          <p:cNvSpPr/>
          <p:nvPr/>
        </p:nvSpPr>
        <p:spPr>
          <a:xfrm>
            <a:off x="20417" y="119"/>
            <a:ext cx="1767506" cy="5139824"/>
          </a:xfrm>
          <a:custGeom>
            <a:rect b="b" l="l" r="r" t="t"/>
            <a:pathLst>
              <a:path extrusionOk="0" h="10279647" w="3535013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37"/>
          <p:cNvSpPr/>
          <p:nvPr/>
        </p:nvSpPr>
        <p:spPr>
          <a:xfrm>
            <a:off x="0" y="0"/>
            <a:ext cx="137160" cy="5143500"/>
          </a:xfrm>
          <a:custGeom>
            <a:rect b="b" l="l" r="r" t="t"/>
            <a:pathLst>
              <a:path extrusionOk="0" h="13716000" w="365760">
                <a:moveTo>
                  <a:pt x="0" y="0"/>
                </a:moveTo>
                <a:lnTo>
                  <a:pt x="365760" y="0"/>
                </a:lnTo>
                <a:lnTo>
                  <a:pt x="36576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E5369"/>
          </a:solidFill>
          <a:ln>
            <a:noFill/>
          </a:ln>
        </p:spPr>
      </p:sp>
      <p:sp>
        <p:nvSpPr>
          <p:cNvPr id="208" name="Google Shape;208;p37"/>
          <p:cNvSpPr/>
          <p:nvPr/>
        </p:nvSpPr>
        <p:spPr>
          <a:xfrm>
            <a:off x="0" y="3242857"/>
            <a:ext cx="1306735" cy="583930"/>
          </a:xfrm>
          <a:custGeom>
            <a:rect b="b" l="l" r="r" t="t"/>
            <a:pathLst>
              <a:path extrusionOk="0" h="1557147" w="3484626">
                <a:moveTo>
                  <a:pt x="2692019" y="1557147"/>
                </a:moveTo>
                <a:cubicBezTo>
                  <a:pt x="2720213" y="1557147"/>
                  <a:pt x="2738882" y="1547749"/>
                  <a:pt x="2748280" y="1538351"/>
                </a:cubicBezTo>
                <a:cubicBezTo>
                  <a:pt x="2748280" y="1528953"/>
                  <a:pt x="2757678" y="1528953"/>
                  <a:pt x="2757678" y="1528953"/>
                </a:cubicBezTo>
                <a:cubicBezTo>
                  <a:pt x="3470529" y="815975"/>
                  <a:pt x="3470529" y="815975"/>
                  <a:pt x="3470529" y="815975"/>
                </a:cubicBezTo>
                <a:cubicBezTo>
                  <a:pt x="3489325" y="797179"/>
                  <a:pt x="3489325" y="759714"/>
                  <a:pt x="3470529" y="731520"/>
                </a:cubicBezTo>
                <a:cubicBezTo>
                  <a:pt x="2757678" y="27940"/>
                  <a:pt x="2757678" y="27940"/>
                  <a:pt x="2757678" y="27940"/>
                </a:cubicBezTo>
                <a:cubicBezTo>
                  <a:pt x="2757678" y="18542"/>
                  <a:pt x="2748280" y="18542"/>
                  <a:pt x="2748280" y="18542"/>
                </a:cubicBezTo>
                <a:cubicBezTo>
                  <a:pt x="2738882" y="9398"/>
                  <a:pt x="2720213" y="0"/>
                  <a:pt x="269201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57147"/>
                  <a:pt x="0" y="1557147"/>
                  <a:pt x="0" y="1557147"/>
                </a:cubicBezTo>
                <a:lnTo>
                  <a:pt x="2692019" y="1557147"/>
                </a:lnTo>
                <a:close/>
              </a:path>
            </a:pathLst>
          </a:custGeom>
          <a:solidFill>
            <a:srgbClr val="35353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37"/>
          <p:cNvGrpSpPr/>
          <p:nvPr/>
        </p:nvGrpSpPr>
        <p:grpSpPr>
          <a:xfrm>
            <a:off x="2222696" y="478901"/>
            <a:ext cx="7522131" cy="1081564"/>
            <a:chOff x="0" y="-19050"/>
            <a:chExt cx="20059015" cy="2884170"/>
          </a:xfrm>
        </p:grpSpPr>
        <p:sp>
          <p:nvSpPr>
            <p:cNvPr id="210" name="Google Shape;210;p37"/>
            <p:cNvSpPr/>
            <p:nvPr/>
          </p:nvSpPr>
          <p:spPr>
            <a:xfrm>
              <a:off x="0" y="0"/>
              <a:ext cx="20059014" cy="2865120"/>
            </a:xfrm>
            <a:custGeom>
              <a:rect b="b" l="l" r="r" t="t"/>
              <a:pathLst>
                <a:path extrusionOk="0" h="2865120" w="20059014">
                  <a:moveTo>
                    <a:pt x="0" y="0"/>
                  </a:moveTo>
                  <a:lnTo>
                    <a:pt x="20059014" y="0"/>
                  </a:lnTo>
                  <a:lnTo>
                    <a:pt x="20059014" y="2865120"/>
                  </a:lnTo>
                  <a:lnTo>
                    <a:pt x="0" y="286512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86418" l="0" r="0" t="-86418"/>
              </a:stretch>
            </a:blipFill>
            <a:ln>
              <a:noFill/>
            </a:ln>
          </p:spPr>
        </p:sp>
        <p:sp>
          <p:nvSpPr>
            <p:cNvPr id="211" name="Google Shape;211;p37"/>
            <p:cNvSpPr txBox="1"/>
            <p:nvPr/>
          </p:nvSpPr>
          <p:spPr>
            <a:xfrm>
              <a:off x="0" y="-19050"/>
              <a:ext cx="20059015" cy="2884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2100" u="none" cap="none" strike="noStrike">
                  <a:solidFill>
                    <a:srgbClr val="178DBB"/>
                  </a:solidFill>
                  <a:latin typeface="Times"/>
                  <a:ea typeface="Times"/>
                  <a:cs typeface="Times"/>
                  <a:sym typeface="Times"/>
                </a:rPr>
                <a:t>            </a:t>
              </a:r>
              <a:r>
                <a:rPr b="1" i="0" lang="en" sz="21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EASWARI ENGINEERING COLLEGE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1" i="0" sz="21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2" name="Google Shape;212;p37"/>
          <p:cNvSpPr txBox="1"/>
          <p:nvPr/>
        </p:nvSpPr>
        <p:spPr>
          <a:xfrm>
            <a:off x="1379413" y="1714500"/>
            <a:ext cx="69810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1" lang="en" sz="29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Q-Flow:</a:t>
            </a:r>
            <a:r>
              <a:rPr lang="en" sz="2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29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Smart Token &amp; Queue Management System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595959"/>
                </a:solidFill>
                <a:latin typeface="Times"/>
                <a:ea typeface="Times"/>
                <a:cs typeface="Times"/>
                <a:sym typeface="Times"/>
              </a:rPr>
              <a:t>Under the Guidance of                                    		Presented By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595959"/>
                </a:solidFill>
                <a:latin typeface="Times"/>
                <a:ea typeface="Times"/>
                <a:cs typeface="Times"/>
                <a:sym typeface="Times"/>
              </a:rPr>
              <a:t>Ms. D S K Harshitha                                       		</a:t>
            </a:r>
            <a:r>
              <a:rPr b="0" i="0" lang="en" sz="15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Adithya P K (310624243009)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Trainer, AIADS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1379411" y="534343"/>
            <a:ext cx="1124998" cy="977836"/>
          </a:xfrm>
          <a:custGeom>
            <a:rect b="b" l="l" r="r" t="t"/>
            <a:pathLst>
              <a:path extrusionOk="0" h="2607564" w="2999994">
                <a:moveTo>
                  <a:pt x="0" y="0"/>
                </a:moveTo>
                <a:lnTo>
                  <a:pt x="2999994" y="0"/>
                </a:lnTo>
                <a:lnTo>
                  <a:pt x="2999994" y="2607564"/>
                </a:lnTo>
                <a:lnTo>
                  <a:pt x="0" y="2607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1" l="-18" r="-1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8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100"/>
          </a:p>
        </p:txBody>
      </p:sp>
      <p:sp>
        <p:nvSpPr>
          <p:cNvPr id="220" name="Google Shape;220;p38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221" name="Google Shape;221;p38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222" name="Google Shape;222;p38"/>
          <p:cNvSpPr txBox="1"/>
          <p:nvPr/>
        </p:nvSpPr>
        <p:spPr>
          <a:xfrm>
            <a:off x="685818" y="925830"/>
            <a:ext cx="7681200" cy="30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74FAA"/>
                </a:solidFill>
              </a:rPr>
              <a:t>Scope of review</a:t>
            </a:r>
            <a:endParaRPr b="1" sz="1600">
              <a:solidFill>
                <a:srgbClr val="374FAA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2026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Requirements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System architecture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Use case &amp; database design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Modules and technology stack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UI, frontend &amp; backend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Database &amp; APIs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Implementation status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Screenshots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Challenges, next steps &amp; references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sz="1100"/>
          </a:p>
        </p:txBody>
      </p:sp>
      <p:sp>
        <p:nvSpPr>
          <p:cNvPr id="229" name="Google Shape;229;p39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230" name="Google Shape;230;p39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231" name="Google Shape;231;p39"/>
          <p:cNvSpPr/>
          <p:nvPr/>
        </p:nvSpPr>
        <p:spPr>
          <a:xfrm>
            <a:off x="514364" y="891540"/>
            <a:ext cx="3977746" cy="35318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9"/>
          <p:cNvSpPr txBox="1"/>
          <p:nvPr/>
        </p:nvSpPr>
        <p:spPr>
          <a:xfrm>
            <a:off x="685818" y="1014984"/>
            <a:ext cx="36348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Functional</a:t>
            </a:r>
            <a:endParaRPr sz="1100"/>
          </a:p>
        </p:txBody>
      </p:sp>
      <p:sp>
        <p:nvSpPr>
          <p:cNvPr id="233" name="Google Shape;233;p39"/>
          <p:cNvSpPr txBox="1"/>
          <p:nvPr/>
        </p:nvSpPr>
        <p:spPr>
          <a:xfrm>
            <a:off x="685818" y="1371600"/>
            <a:ext cx="3634837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QR-based customer access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Name, phone and service selection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Sequential token generation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Live token status and waiting time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Call, Start, Complete, Skip, Transfer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Dynamic counters and services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Live analytics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AI duration and counter recommendations</a:t>
            </a:r>
            <a:endParaRPr sz="1100"/>
          </a:p>
        </p:txBody>
      </p:sp>
      <p:sp>
        <p:nvSpPr>
          <p:cNvPr id="234" name="Google Shape;234;p39"/>
          <p:cNvSpPr/>
          <p:nvPr/>
        </p:nvSpPr>
        <p:spPr>
          <a:xfrm>
            <a:off x="4629273" y="891540"/>
            <a:ext cx="3977746" cy="35318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9"/>
          <p:cNvSpPr txBox="1"/>
          <p:nvPr/>
        </p:nvSpPr>
        <p:spPr>
          <a:xfrm>
            <a:off x="4800728" y="1014984"/>
            <a:ext cx="36348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Non-Functional</a:t>
            </a:r>
            <a:endParaRPr sz="1100"/>
          </a:p>
        </p:txBody>
      </p:sp>
      <p:sp>
        <p:nvSpPr>
          <p:cNvPr id="236" name="Google Shape;236;p39"/>
          <p:cNvSpPr txBox="1"/>
          <p:nvPr/>
        </p:nvSpPr>
        <p:spPr>
          <a:xfrm>
            <a:off x="4800728" y="1371600"/>
            <a:ext cx="3634837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Mobile-first customer UI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Responsive staff dashboard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Sub-second Socket.IO updates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MongoDB as source of truth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JWT + bcrypt security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Local Wi-Fi operation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Reliable database-first updates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0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1100"/>
          </a:p>
        </p:txBody>
      </p:sp>
      <p:sp>
        <p:nvSpPr>
          <p:cNvPr id="243" name="Google Shape;243;p40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244" name="Google Shape;244;p40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245" name="Google Shape;245;p40"/>
          <p:cNvSpPr/>
          <p:nvPr/>
        </p:nvSpPr>
        <p:spPr>
          <a:xfrm>
            <a:off x="411491" y="1062990"/>
            <a:ext cx="1268764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F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0"/>
          <p:cNvSpPr txBox="1"/>
          <p:nvPr/>
        </p:nvSpPr>
        <p:spPr>
          <a:xfrm>
            <a:off x="445782" y="1179576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b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 sz="1100"/>
          </a:p>
        </p:txBody>
      </p:sp>
      <p:sp>
        <p:nvSpPr>
          <p:cNvPr id="247" name="Google Shape;247;p40"/>
          <p:cNvSpPr/>
          <p:nvPr/>
        </p:nvSpPr>
        <p:spPr>
          <a:xfrm>
            <a:off x="1714546" y="1248156"/>
            <a:ext cx="274327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0"/>
          <p:cNvSpPr/>
          <p:nvPr/>
        </p:nvSpPr>
        <p:spPr>
          <a:xfrm>
            <a:off x="2091746" y="1062990"/>
            <a:ext cx="1268764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F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0"/>
          <p:cNvSpPr txBox="1"/>
          <p:nvPr/>
        </p:nvSpPr>
        <p:spPr>
          <a:xfrm>
            <a:off x="2126036" y="1179576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b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+ Vite</a:t>
            </a:r>
            <a:endParaRPr sz="1100"/>
          </a:p>
        </p:txBody>
      </p:sp>
      <p:sp>
        <p:nvSpPr>
          <p:cNvPr id="250" name="Google Shape;250;p40"/>
          <p:cNvSpPr/>
          <p:nvPr/>
        </p:nvSpPr>
        <p:spPr>
          <a:xfrm>
            <a:off x="3394800" y="1248156"/>
            <a:ext cx="274327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0"/>
          <p:cNvSpPr/>
          <p:nvPr/>
        </p:nvSpPr>
        <p:spPr>
          <a:xfrm>
            <a:off x="3772001" y="1062990"/>
            <a:ext cx="1268764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F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0"/>
          <p:cNvSpPr txBox="1"/>
          <p:nvPr/>
        </p:nvSpPr>
        <p:spPr>
          <a:xfrm>
            <a:off x="3806291" y="1179576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Node +</a:t>
            </a:r>
            <a:b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Express</a:t>
            </a:r>
            <a:endParaRPr sz="1100"/>
          </a:p>
        </p:txBody>
      </p:sp>
      <p:sp>
        <p:nvSpPr>
          <p:cNvPr id="253" name="Google Shape;253;p40"/>
          <p:cNvSpPr/>
          <p:nvPr/>
        </p:nvSpPr>
        <p:spPr>
          <a:xfrm>
            <a:off x="5075055" y="1248156"/>
            <a:ext cx="274327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0"/>
          <p:cNvSpPr/>
          <p:nvPr/>
        </p:nvSpPr>
        <p:spPr>
          <a:xfrm>
            <a:off x="5452255" y="1062990"/>
            <a:ext cx="1268764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F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0"/>
          <p:cNvSpPr txBox="1"/>
          <p:nvPr/>
        </p:nvSpPr>
        <p:spPr>
          <a:xfrm>
            <a:off x="5486546" y="1179576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 sz="1100"/>
          </a:p>
        </p:txBody>
      </p:sp>
      <p:sp>
        <p:nvSpPr>
          <p:cNvPr id="256" name="Google Shape;256;p40"/>
          <p:cNvSpPr/>
          <p:nvPr/>
        </p:nvSpPr>
        <p:spPr>
          <a:xfrm>
            <a:off x="6755310" y="1248156"/>
            <a:ext cx="274327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0"/>
          <p:cNvSpPr/>
          <p:nvPr/>
        </p:nvSpPr>
        <p:spPr>
          <a:xfrm>
            <a:off x="7098219" y="1062990"/>
            <a:ext cx="1268764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F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0"/>
          <p:cNvSpPr txBox="1"/>
          <p:nvPr/>
        </p:nvSpPr>
        <p:spPr>
          <a:xfrm>
            <a:off x="7132510" y="1179576"/>
            <a:ext cx="1200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Staff/Admin</a:t>
            </a:r>
            <a:b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100"/>
          </a:p>
        </p:txBody>
      </p:sp>
      <p:sp>
        <p:nvSpPr>
          <p:cNvPr id="259" name="Google Shape;259;p40"/>
          <p:cNvSpPr txBox="1"/>
          <p:nvPr/>
        </p:nvSpPr>
        <p:spPr>
          <a:xfrm>
            <a:off x="685818" y="1920240"/>
            <a:ext cx="77497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Axios REST API  ↔  Express  |  Socket.IO for live updates</a:t>
            </a:r>
            <a:endParaRPr sz="1100"/>
          </a:p>
        </p:txBody>
      </p:sp>
      <p:sp>
        <p:nvSpPr>
          <p:cNvPr id="260" name="Google Shape;260;p40"/>
          <p:cNvSpPr/>
          <p:nvPr/>
        </p:nvSpPr>
        <p:spPr>
          <a:xfrm>
            <a:off x="514364" y="2400300"/>
            <a:ext cx="3943455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685818" y="2523744"/>
            <a:ext cx="3600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AI / Queue</a:t>
            </a:r>
            <a:endParaRPr sz="1100"/>
          </a:p>
        </p:txBody>
      </p:sp>
      <p:sp>
        <p:nvSpPr>
          <p:cNvPr id="262" name="Google Shape;262;p40"/>
          <p:cNvSpPr txBox="1"/>
          <p:nvPr/>
        </p:nvSpPr>
        <p:spPr>
          <a:xfrm>
            <a:off x="685818" y="2880360"/>
            <a:ext cx="3600546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500-record synthetic dataset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Duration and wait-time estimation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Counter workload recommendation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FIFO queue handling</a:t>
            </a:r>
            <a:endParaRPr sz="1100"/>
          </a:p>
        </p:txBody>
      </p:sp>
      <p:sp>
        <p:nvSpPr>
          <p:cNvPr id="263" name="Google Shape;263;p40"/>
          <p:cNvSpPr/>
          <p:nvPr/>
        </p:nvSpPr>
        <p:spPr>
          <a:xfrm>
            <a:off x="4629273" y="2400300"/>
            <a:ext cx="3943455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0"/>
          <p:cNvSpPr txBox="1"/>
          <p:nvPr/>
        </p:nvSpPr>
        <p:spPr>
          <a:xfrm>
            <a:off x="4800728" y="2523744"/>
            <a:ext cx="3600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sz="1100"/>
          </a:p>
        </p:txBody>
      </p:sp>
      <p:sp>
        <p:nvSpPr>
          <p:cNvPr id="265" name="Google Shape;265;p40"/>
          <p:cNvSpPr txBox="1"/>
          <p:nvPr/>
        </p:nvSpPr>
        <p:spPr>
          <a:xfrm>
            <a:off x="4800728" y="2880360"/>
            <a:ext cx="3600546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MongoDB updated first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Socket.IO broadcasts after write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queue room → staff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token:{id} room → customer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1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Use Case Diagram</a:t>
            </a:r>
            <a:endParaRPr sz="1100"/>
          </a:p>
        </p:txBody>
      </p:sp>
      <p:sp>
        <p:nvSpPr>
          <p:cNvPr id="272" name="Google Shape;272;p41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273" name="Google Shape;273;p41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274" name="Google Shape;274;p41"/>
          <p:cNvSpPr/>
          <p:nvPr/>
        </p:nvSpPr>
        <p:spPr>
          <a:xfrm>
            <a:off x="480073" y="925830"/>
            <a:ext cx="5486546" cy="3497580"/>
          </a:xfrm>
          <a:prstGeom prst="roundRect">
            <a:avLst>
              <a:gd fmla="val 16667" name="adj"/>
            </a:avLst>
          </a:prstGeom>
          <a:solidFill>
            <a:srgbClr val="EEF0F4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1"/>
          <p:cNvSpPr/>
          <p:nvPr/>
        </p:nvSpPr>
        <p:spPr>
          <a:xfrm>
            <a:off x="6172365" y="925830"/>
            <a:ext cx="2400364" cy="34975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6343819" y="104927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Key Actions</a:t>
            </a:r>
            <a:endParaRPr sz="1100"/>
          </a:p>
        </p:txBody>
      </p:sp>
      <p:sp>
        <p:nvSpPr>
          <p:cNvPr id="277" name="Google Shape;277;p41"/>
          <p:cNvSpPr txBox="1"/>
          <p:nvPr/>
        </p:nvSpPr>
        <p:spPr>
          <a:xfrm>
            <a:off x="6343819" y="1405889"/>
            <a:ext cx="2057455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Customer: scan, register, get token, track, receive alert.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Staff: login, view queue, call, start, complete, skip, transfer.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Admin: manage counters, services and analytics.</a:t>
            </a:r>
            <a:endParaRPr sz="1100"/>
          </a:p>
        </p:txBody>
      </p:sp>
      <p:pic>
        <p:nvPicPr>
          <p:cNvPr descr="01_use_case_diagram.png" id="278" name="Google Shape;2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013" y="937500"/>
            <a:ext cx="5452500" cy="34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2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ER Diagram / Database Design</a:t>
            </a:r>
            <a:endParaRPr sz="1100"/>
          </a:p>
        </p:txBody>
      </p:sp>
      <p:sp>
        <p:nvSpPr>
          <p:cNvPr id="285" name="Google Shape;285;p42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286" name="Google Shape;286;p42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287" name="Google Shape;287;p42"/>
          <p:cNvSpPr/>
          <p:nvPr/>
        </p:nvSpPr>
        <p:spPr>
          <a:xfrm>
            <a:off x="377200" y="891540"/>
            <a:ext cx="5726583" cy="3566160"/>
          </a:xfrm>
          <a:prstGeom prst="roundRect">
            <a:avLst>
              <a:gd fmla="val 16667" name="adj"/>
            </a:avLst>
          </a:prstGeom>
          <a:solidFill>
            <a:srgbClr val="EEF0F4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6275237" y="891540"/>
            <a:ext cx="2297491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2"/>
          <p:cNvSpPr txBox="1"/>
          <p:nvPr/>
        </p:nvSpPr>
        <p:spPr>
          <a:xfrm>
            <a:off x="6446692" y="1014984"/>
            <a:ext cx="19545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Collections</a:t>
            </a:r>
            <a:endParaRPr sz="1100"/>
          </a:p>
        </p:txBody>
      </p:sp>
      <p:sp>
        <p:nvSpPr>
          <p:cNvPr id="290" name="Google Shape;290;p42"/>
          <p:cNvSpPr txBox="1"/>
          <p:nvPr/>
        </p:nvSpPr>
        <p:spPr>
          <a:xfrm>
            <a:off x="6446692" y="1371600"/>
            <a:ext cx="1954582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User: name, email, role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Counter: number, staff, status, current token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Token: customer, service, status, counter, timings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Service: name, code, duration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Token references Counter.</a:t>
            </a:r>
            <a:endParaRPr sz="1100"/>
          </a:p>
        </p:txBody>
      </p:sp>
      <p:pic>
        <p:nvPicPr>
          <p:cNvPr descr="02_er_diagram.png" id="291" name="Google Shape;29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010" y="900000"/>
            <a:ext cx="5700152" cy="3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3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Module Description</a:t>
            </a:r>
            <a:endParaRPr sz="1100"/>
          </a:p>
        </p:txBody>
      </p:sp>
      <p:sp>
        <p:nvSpPr>
          <p:cNvPr id="298" name="Google Shape;298;p43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299" name="Google Shape;299;p43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300" name="Google Shape;300;p43"/>
          <p:cNvSpPr/>
          <p:nvPr/>
        </p:nvSpPr>
        <p:spPr>
          <a:xfrm>
            <a:off x="377200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411491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1100"/>
          </a:p>
        </p:txBody>
      </p:sp>
      <p:sp>
        <p:nvSpPr>
          <p:cNvPr id="302" name="Google Shape;302;p43"/>
          <p:cNvSpPr/>
          <p:nvPr/>
        </p:nvSpPr>
        <p:spPr>
          <a:xfrm>
            <a:off x="3177625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3"/>
          <p:cNvSpPr txBox="1"/>
          <p:nvPr/>
        </p:nvSpPr>
        <p:spPr>
          <a:xfrm>
            <a:off x="3211915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sz="1100"/>
          </a:p>
        </p:txBody>
      </p:sp>
      <p:sp>
        <p:nvSpPr>
          <p:cNvPr id="304" name="Google Shape;304;p43"/>
          <p:cNvSpPr/>
          <p:nvPr/>
        </p:nvSpPr>
        <p:spPr>
          <a:xfrm>
            <a:off x="5978049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3"/>
          <p:cNvSpPr txBox="1"/>
          <p:nvPr/>
        </p:nvSpPr>
        <p:spPr>
          <a:xfrm>
            <a:off x="6012340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Functions</a:t>
            </a:r>
            <a:endParaRPr sz="1100"/>
          </a:p>
        </p:txBody>
      </p:sp>
      <p:sp>
        <p:nvSpPr>
          <p:cNvPr id="306" name="Google Shape;306;p43"/>
          <p:cNvSpPr/>
          <p:nvPr/>
        </p:nvSpPr>
        <p:spPr>
          <a:xfrm>
            <a:off x="377200" y="1186434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3"/>
          <p:cNvSpPr txBox="1"/>
          <p:nvPr/>
        </p:nvSpPr>
        <p:spPr>
          <a:xfrm>
            <a:off x="411491" y="1207008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Customer Mobile</a:t>
            </a:r>
            <a:endParaRPr sz="1100"/>
          </a:p>
        </p:txBody>
      </p:sp>
      <p:sp>
        <p:nvSpPr>
          <p:cNvPr id="308" name="Google Shape;308;p43"/>
          <p:cNvSpPr/>
          <p:nvPr/>
        </p:nvSpPr>
        <p:spPr>
          <a:xfrm>
            <a:off x="3177625" y="1186434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3"/>
          <p:cNvSpPr txBox="1"/>
          <p:nvPr/>
        </p:nvSpPr>
        <p:spPr>
          <a:xfrm>
            <a:off x="3211915" y="1207008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Check-in &amp; tracking</a:t>
            </a:r>
            <a:endParaRPr sz="1100"/>
          </a:p>
        </p:txBody>
      </p:sp>
      <p:sp>
        <p:nvSpPr>
          <p:cNvPr id="310" name="Google Shape;310;p43"/>
          <p:cNvSpPr/>
          <p:nvPr/>
        </p:nvSpPr>
        <p:spPr>
          <a:xfrm>
            <a:off x="5978049" y="1186434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3"/>
          <p:cNvSpPr txBox="1"/>
          <p:nvPr/>
        </p:nvSpPr>
        <p:spPr>
          <a:xfrm>
            <a:off x="6012340" y="1207008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QR, form, token, live status, vibration</a:t>
            </a:r>
            <a:endParaRPr sz="1100"/>
          </a:p>
        </p:txBody>
      </p:sp>
      <p:sp>
        <p:nvSpPr>
          <p:cNvPr id="312" name="Google Shape;312;p43"/>
          <p:cNvSpPr/>
          <p:nvPr/>
        </p:nvSpPr>
        <p:spPr>
          <a:xfrm>
            <a:off x="377200" y="1678250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3"/>
          <p:cNvSpPr txBox="1"/>
          <p:nvPr/>
        </p:nvSpPr>
        <p:spPr>
          <a:xfrm>
            <a:off x="411491" y="1698824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Token Management</a:t>
            </a:r>
            <a:endParaRPr sz="1100"/>
          </a:p>
        </p:txBody>
      </p:sp>
      <p:sp>
        <p:nvSpPr>
          <p:cNvPr id="314" name="Google Shape;314;p43"/>
          <p:cNvSpPr/>
          <p:nvPr/>
        </p:nvSpPr>
        <p:spPr>
          <a:xfrm>
            <a:off x="3177625" y="1678250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3"/>
          <p:cNvSpPr txBox="1"/>
          <p:nvPr/>
        </p:nvSpPr>
        <p:spPr>
          <a:xfrm>
            <a:off x="3211915" y="1698824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Token lifecycle</a:t>
            </a:r>
            <a:endParaRPr sz="1100"/>
          </a:p>
        </p:txBody>
      </p:sp>
      <p:sp>
        <p:nvSpPr>
          <p:cNvPr id="316" name="Google Shape;316;p43"/>
          <p:cNvSpPr/>
          <p:nvPr/>
        </p:nvSpPr>
        <p:spPr>
          <a:xfrm>
            <a:off x="5978049" y="1678250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3"/>
          <p:cNvSpPr txBox="1"/>
          <p:nvPr/>
        </p:nvSpPr>
        <p:spPr>
          <a:xfrm>
            <a:off x="6012340" y="1698824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Sequential numbering, status, transfers</a:t>
            </a:r>
            <a:endParaRPr sz="1100"/>
          </a:p>
        </p:txBody>
      </p:sp>
      <p:sp>
        <p:nvSpPr>
          <p:cNvPr id="318" name="Google Shape;318;p43"/>
          <p:cNvSpPr/>
          <p:nvPr/>
        </p:nvSpPr>
        <p:spPr>
          <a:xfrm>
            <a:off x="377200" y="2170067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3"/>
          <p:cNvSpPr txBox="1"/>
          <p:nvPr/>
        </p:nvSpPr>
        <p:spPr>
          <a:xfrm>
            <a:off x="411491" y="2190641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Counter Operations</a:t>
            </a:r>
            <a:endParaRPr sz="1100"/>
          </a:p>
        </p:txBody>
      </p:sp>
      <p:sp>
        <p:nvSpPr>
          <p:cNvPr id="320" name="Google Shape;320;p43"/>
          <p:cNvSpPr/>
          <p:nvPr/>
        </p:nvSpPr>
        <p:spPr>
          <a:xfrm>
            <a:off x="3177625" y="2170067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3"/>
          <p:cNvSpPr txBox="1"/>
          <p:nvPr/>
        </p:nvSpPr>
        <p:spPr>
          <a:xfrm>
            <a:off x="3211915" y="2190641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Counter workflow</a:t>
            </a:r>
            <a:endParaRPr sz="1100"/>
          </a:p>
        </p:txBody>
      </p:sp>
      <p:sp>
        <p:nvSpPr>
          <p:cNvPr id="322" name="Google Shape;322;p43"/>
          <p:cNvSpPr/>
          <p:nvPr/>
        </p:nvSpPr>
        <p:spPr>
          <a:xfrm>
            <a:off x="5978049" y="2170067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3"/>
          <p:cNvSpPr txBox="1"/>
          <p:nvPr/>
        </p:nvSpPr>
        <p:spPr>
          <a:xfrm>
            <a:off x="6012340" y="2190641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Call Next, Start, Complete, Skip, Transfer</a:t>
            </a:r>
            <a:endParaRPr sz="1100"/>
          </a:p>
        </p:txBody>
      </p:sp>
      <p:sp>
        <p:nvSpPr>
          <p:cNvPr id="324" name="Google Shape;324;p43"/>
          <p:cNvSpPr/>
          <p:nvPr/>
        </p:nvSpPr>
        <p:spPr>
          <a:xfrm>
            <a:off x="377200" y="2661884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411491" y="2682457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AI Prediction</a:t>
            </a:r>
            <a:endParaRPr sz="1100"/>
          </a:p>
        </p:txBody>
      </p:sp>
      <p:sp>
        <p:nvSpPr>
          <p:cNvPr id="326" name="Google Shape;326;p43"/>
          <p:cNvSpPr/>
          <p:nvPr/>
        </p:nvSpPr>
        <p:spPr>
          <a:xfrm>
            <a:off x="3177625" y="2661884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3211915" y="2682457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Time &amp; workload</a:t>
            </a:r>
            <a:endParaRPr sz="1100"/>
          </a:p>
        </p:txBody>
      </p:sp>
      <p:sp>
        <p:nvSpPr>
          <p:cNvPr id="328" name="Google Shape;328;p43"/>
          <p:cNvSpPr/>
          <p:nvPr/>
        </p:nvSpPr>
        <p:spPr>
          <a:xfrm>
            <a:off x="5978049" y="2661884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6012340" y="2682457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Duration, wait time, counter suggestion</a:t>
            </a:r>
            <a:endParaRPr sz="1100"/>
          </a:p>
        </p:txBody>
      </p:sp>
      <p:sp>
        <p:nvSpPr>
          <p:cNvPr id="330" name="Google Shape;330;p43"/>
          <p:cNvSpPr/>
          <p:nvPr/>
        </p:nvSpPr>
        <p:spPr>
          <a:xfrm>
            <a:off x="377200" y="3153700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3"/>
          <p:cNvSpPr txBox="1"/>
          <p:nvPr/>
        </p:nvSpPr>
        <p:spPr>
          <a:xfrm>
            <a:off x="411491" y="3174274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sz="1100"/>
          </a:p>
        </p:txBody>
      </p:sp>
      <p:sp>
        <p:nvSpPr>
          <p:cNvPr id="332" name="Google Shape;332;p43"/>
          <p:cNvSpPr/>
          <p:nvPr/>
        </p:nvSpPr>
        <p:spPr>
          <a:xfrm>
            <a:off x="3177625" y="3153700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3211915" y="3174274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Live synchronization</a:t>
            </a:r>
            <a:endParaRPr sz="1100"/>
          </a:p>
        </p:txBody>
      </p:sp>
      <p:sp>
        <p:nvSpPr>
          <p:cNvPr id="334" name="Google Shape;334;p43"/>
          <p:cNvSpPr/>
          <p:nvPr/>
        </p:nvSpPr>
        <p:spPr>
          <a:xfrm>
            <a:off x="5978049" y="3153700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3"/>
          <p:cNvSpPr txBox="1"/>
          <p:nvPr/>
        </p:nvSpPr>
        <p:spPr>
          <a:xfrm>
            <a:off x="6012340" y="3174274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Socket rooms and event updates</a:t>
            </a:r>
            <a:endParaRPr sz="1100"/>
          </a:p>
        </p:txBody>
      </p:sp>
      <p:sp>
        <p:nvSpPr>
          <p:cNvPr id="336" name="Google Shape;336;p43"/>
          <p:cNvSpPr/>
          <p:nvPr/>
        </p:nvSpPr>
        <p:spPr>
          <a:xfrm>
            <a:off x="377200" y="3645517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411491" y="3666091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sz="1100"/>
          </a:p>
        </p:txBody>
      </p:sp>
      <p:sp>
        <p:nvSpPr>
          <p:cNvPr id="338" name="Google Shape;338;p43"/>
          <p:cNvSpPr/>
          <p:nvPr/>
        </p:nvSpPr>
        <p:spPr>
          <a:xfrm>
            <a:off x="3177625" y="3645517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3211915" y="3666091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Staff/Admin security</a:t>
            </a:r>
            <a:endParaRPr sz="1100"/>
          </a:p>
        </p:txBody>
      </p:sp>
      <p:sp>
        <p:nvSpPr>
          <p:cNvPr id="340" name="Google Shape;340;p43"/>
          <p:cNvSpPr/>
          <p:nvPr/>
        </p:nvSpPr>
        <p:spPr>
          <a:xfrm>
            <a:off x="5978049" y="3645517"/>
            <a:ext cx="2800424" cy="491816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3"/>
          <p:cNvSpPr txBox="1"/>
          <p:nvPr/>
        </p:nvSpPr>
        <p:spPr>
          <a:xfrm>
            <a:off x="6012340" y="3666091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JWT, bcrypt, protected routes</a:t>
            </a:r>
            <a:endParaRPr sz="1100"/>
          </a:p>
        </p:txBody>
      </p:sp>
      <p:sp>
        <p:nvSpPr>
          <p:cNvPr id="342" name="Google Shape;342;p43"/>
          <p:cNvSpPr/>
          <p:nvPr/>
        </p:nvSpPr>
        <p:spPr>
          <a:xfrm>
            <a:off x="377200" y="4137333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411491" y="4157907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sz="1100"/>
          </a:p>
        </p:txBody>
      </p:sp>
      <p:sp>
        <p:nvSpPr>
          <p:cNvPr id="344" name="Google Shape;344;p43"/>
          <p:cNvSpPr/>
          <p:nvPr/>
        </p:nvSpPr>
        <p:spPr>
          <a:xfrm>
            <a:off x="3177625" y="4137333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3"/>
          <p:cNvSpPr txBox="1"/>
          <p:nvPr/>
        </p:nvSpPr>
        <p:spPr>
          <a:xfrm>
            <a:off x="3211915" y="4157907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Operational insights</a:t>
            </a:r>
            <a:endParaRPr sz="1100"/>
          </a:p>
        </p:txBody>
      </p:sp>
      <p:sp>
        <p:nvSpPr>
          <p:cNvPr id="346" name="Google Shape;346;p43"/>
          <p:cNvSpPr/>
          <p:nvPr/>
        </p:nvSpPr>
        <p:spPr>
          <a:xfrm>
            <a:off x="5978049" y="4137333"/>
            <a:ext cx="2800424" cy="4918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3"/>
          <p:cNvSpPr txBox="1"/>
          <p:nvPr/>
        </p:nvSpPr>
        <p:spPr>
          <a:xfrm>
            <a:off x="6012340" y="4157907"/>
            <a:ext cx="2731842" cy="4575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Volume, wait/service averages, utilization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4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sz="1100"/>
          </a:p>
        </p:txBody>
      </p:sp>
      <p:sp>
        <p:nvSpPr>
          <p:cNvPr id="354" name="Google Shape;354;p44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  <p:sp>
        <p:nvSpPr>
          <p:cNvPr id="355" name="Google Shape;355;p44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356" name="Google Shape;356;p44"/>
          <p:cNvSpPr/>
          <p:nvPr/>
        </p:nvSpPr>
        <p:spPr>
          <a:xfrm>
            <a:off x="377200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4"/>
          <p:cNvSpPr txBox="1"/>
          <p:nvPr/>
        </p:nvSpPr>
        <p:spPr>
          <a:xfrm>
            <a:off x="411491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sz="1100"/>
          </a:p>
        </p:txBody>
      </p:sp>
      <p:sp>
        <p:nvSpPr>
          <p:cNvPr id="358" name="Google Shape;358;p44"/>
          <p:cNvSpPr/>
          <p:nvPr/>
        </p:nvSpPr>
        <p:spPr>
          <a:xfrm>
            <a:off x="3177625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3211915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sz="1100"/>
          </a:p>
        </p:txBody>
      </p:sp>
      <p:sp>
        <p:nvSpPr>
          <p:cNvPr id="360" name="Google Shape;360;p44"/>
          <p:cNvSpPr/>
          <p:nvPr/>
        </p:nvSpPr>
        <p:spPr>
          <a:xfrm>
            <a:off x="5978049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6012340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100"/>
          </a:p>
        </p:txBody>
      </p:sp>
      <p:sp>
        <p:nvSpPr>
          <p:cNvPr id="362" name="Google Shape;362;p44"/>
          <p:cNvSpPr/>
          <p:nvPr/>
        </p:nvSpPr>
        <p:spPr>
          <a:xfrm>
            <a:off x="377200" y="1186434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4"/>
          <p:cNvSpPr txBox="1"/>
          <p:nvPr/>
        </p:nvSpPr>
        <p:spPr>
          <a:xfrm>
            <a:off x="411491" y="1207008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100"/>
          </a:p>
        </p:txBody>
      </p:sp>
      <p:sp>
        <p:nvSpPr>
          <p:cNvPr id="364" name="Google Shape;364;p44"/>
          <p:cNvSpPr/>
          <p:nvPr/>
        </p:nvSpPr>
        <p:spPr>
          <a:xfrm>
            <a:off x="3177625" y="1186434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4"/>
          <p:cNvSpPr txBox="1"/>
          <p:nvPr/>
        </p:nvSpPr>
        <p:spPr>
          <a:xfrm>
            <a:off x="3211915" y="1207008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React 19 + Vite</a:t>
            </a:r>
            <a:endParaRPr sz="1100"/>
          </a:p>
        </p:txBody>
      </p:sp>
      <p:sp>
        <p:nvSpPr>
          <p:cNvPr id="366" name="Google Shape;366;p44"/>
          <p:cNvSpPr/>
          <p:nvPr/>
        </p:nvSpPr>
        <p:spPr>
          <a:xfrm>
            <a:off x="5978049" y="1186434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4"/>
          <p:cNvSpPr txBox="1"/>
          <p:nvPr/>
        </p:nvSpPr>
        <p:spPr>
          <a:xfrm>
            <a:off x="6012340" y="1207008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Web application</a:t>
            </a:r>
            <a:endParaRPr sz="1100"/>
          </a:p>
        </p:txBody>
      </p:sp>
      <p:sp>
        <p:nvSpPr>
          <p:cNvPr id="368" name="Google Shape;368;p44"/>
          <p:cNvSpPr/>
          <p:nvPr/>
        </p:nvSpPr>
        <p:spPr>
          <a:xfrm>
            <a:off x="377200" y="1572768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4"/>
          <p:cNvSpPr txBox="1"/>
          <p:nvPr/>
        </p:nvSpPr>
        <p:spPr>
          <a:xfrm>
            <a:off x="411491" y="1593342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Routing / UI</a:t>
            </a:r>
            <a:endParaRPr sz="1100"/>
          </a:p>
        </p:txBody>
      </p:sp>
      <p:sp>
        <p:nvSpPr>
          <p:cNvPr id="370" name="Google Shape;370;p44"/>
          <p:cNvSpPr/>
          <p:nvPr/>
        </p:nvSpPr>
        <p:spPr>
          <a:xfrm>
            <a:off x="3177625" y="1572768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4"/>
          <p:cNvSpPr txBox="1"/>
          <p:nvPr/>
        </p:nvSpPr>
        <p:spPr>
          <a:xfrm>
            <a:off x="3211915" y="1593342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React Router 7 + Tailwind CSS</a:t>
            </a:r>
            <a:endParaRPr sz="1100"/>
          </a:p>
        </p:txBody>
      </p:sp>
      <p:sp>
        <p:nvSpPr>
          <p:cNvPr id="372" name="Google Shape;372;p44"/>
          <p:cNvSpPr/>
          <p:nvPr/>
        </p:nvSpPr>
        <p:spPr>
          <a:xfrm>
            <a:off x="5978049" y="1572768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4"/>
          <p:cNvSpPr txBox="1"/>
          <p:nvPr/>
        </p:nvSpPr>
        <p:spPr>
          <a:xfrm>
            <a:off x="6012340" y="1593342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Navigation &amp; responsive UI</a:t>
            </a:r>
            <a:endParaRPr sz="1100"/>
          </a:p>
        </p:txBody>
      </p:sp>
      <p:sp>
        <p:nvSpPr>
          <p:cNvPr id="374" name="Google Shape;374;p44"/>
          <p:cNvSpPr/>
          <p:nvPr/>
        </p:nvSpPr>
        <p:spPr>
          <a:xfrm>
            <a:off x="377200" y="1959102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4"/>
          <p:cNvSpPr txBox="1"/>
          <p:nvPr/>
        </p:nvSpPr>
        <p:spPr>
          <a:xfrm>
            <a:off x="411491" y="1979675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1100"/>
          </a:p>
        </p:txBody>
      </p:sp>
      <p:sp>
        <p:nvSpPr>
          <p:cNvPr id="376" name="Google Shape;376;p44"/>
          <p:cNvSpPr/>
          <p:nvPr/>
        </p:nvSpPr>
        <p:spPr>
          <a:xfrm>
            <a:off x="3177625" y="1959102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4"/>
          <p:cNvSpPr txBox="1"/>
          <p:nvPr/>
        </p:nvSpPr>
        <p:spPr>
          <a:xfrm>
            <a:off x="3211915" y="1979675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Node.js + Express 4.18</a:t>
            </a:r>
            <a:endParaRPr sz="1100"/>
          </a:p>
        </p:txBody>
      </p:sp>
      <p:sp>
        <p:nvSpPr>
          <p:cNvPr id="378" name="Google Shape;378;p44"/>
          <p:cNvSpPr/>
          <p:nvPr/>
        </p:nvSpPr>
        <p:spPr>
          <a:xfrm>
            <a:off x="5978049" y="1959102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4"/>
          <p:cNvSpPr txBox="1"/>
          <p:nvPr/>
        </p:nvSpPr>
        <p:spPr>
          <a:xfrm>
            <a:off x="6012340" y="1979675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Server &amp; REST APIs</a:t>
            </a:r>
            <a:endParaRPr sz="1100"/>
          </a:p>
        </p:txBody>
      </p:sp>
      <p:sp>
        <p:nvSpPr>
          <p:cNvPr id="380" name="Google Shape;380;p44"/>
          <p:cNvSpPr/>
          <p:nvPr/>
        </p:nvSpPr>
        <p:spPr>
          <a:xfrm>
            <a:off x="377200" y="2345436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4"/>
          <p:cNvSpPr txBox="1"/>
          <p:nvPr/>
        </p:nvSpPr>
        <p:spPr>
          <a:xfrm>
            <a:off x="411491" y="2366009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100"/>
          </a:p>
        </p:txBody>
      </p:sp>
      <p:sp>
        <p:nvSpPr>
          <p:cNvPr id="382" name="Google Shape;382;p44"/>
          <p:cNvSpPr/>
          <p:nvPr/>
        </p:nvSpPr>
        <p:spPr>
          <a:xfrm>
            <a:off x="3177625" y="2345436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4"/>
          <p:cNvSpPr txBox="1"/>
          <p:nvPr/>
        </p:nvSpPr>
        <p:spPr>
          <a:xfrm>
            <a:off x="3211915" y="2366009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MongoDB + Mongoose 8.3</a:t>
            </a:r>
            <a:endParaRPr sz="1100"/>
          </a:p>
        </p:txBody>
      </p:sp>
      <p:sp>
        <p:nvSpPr>
          <p:cNvPr id="384" name="Google Shape;384;p44"/>
          <p:cNvSpPr/>
          <p:nvPr/>
        </p:nvSpPr>
        <p:spPr>
          <a:xfrm>
            <a:off x="5978049" y="2345436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6012340" y="2366009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Persistent data</a:t>
            </a:r>
            <a:endParaRPr sz="1100"/>
          </a:p>
        </p:txBody>
      </p:sp>
      <p:sp>
        <p:nvSpPr>
          <p:cNvPr id="386" name="Google Shape;386;p44"/>
          <p:cNvSpPr/>
          <p:nvPr/>
        </p:nvSpPr>
        <p:spPr>
          <a:xfrm>
            <a:off x="377200" y="2731770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4"/>
          <p:cNvSpPr txBox="1"/>
          <p:nvPr/>
        </p:nvSpPr>
        <p:spPr>
          <a:xfrm>
            <a:off x="411491" y="2752344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sz="1100"/>
          </a:p>
        </p:txBody>
      </p:sp>
      <p:sp>
        <p:nvSpPr>
          <p:cNvPr id="388" name="Google Shape;388;p44"/>
          <p:cNvSpPr/>
          <p:nvPr/>
        </p:nvSpPr>
        <p:spPr>
          <a:xfrm>
            <a:off x="3177625" y="2731770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4"/>
          <p:cNvSpPr txBox="1"/>
          <p:nvPr/>
        </p:nvSpPr>
        <p:spPr>
          <a:xfrm>
            <a:off x="3211915" y="2752344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Socket.IO 4.7</a:t>
            </a:r>
            <a:endParaRPr sz="1100"/>
          </a:p>
        </p:txBody>
      </p:sp>
      <p:sp>
        <p:nvSpPr>
          <p:cNvPr id="390" name="Google Shape;390;p44"/>
          <p:cNvSpPr/>
          <p:nvPr/>
        </p:nvSpPr>
        <p:spPr>
          <a:xfrm>
            <a:off x="5978049" y="2731770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4"/>
          <p:cNvSpPr txBox="1"/>
          <p:nvPr/>
        </p:nvSpPr>
        <p:spPr>
          <a:xfrm>
            <a:off x="6012340" y="2752344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Live updates</a:t>
            </a:r>
            <a:endParaRPr sz="1100"/>
          </a:p>
        </p:txBody>
      </p:sp>
      <p:sp>
        <p:nvSpPr>
          <p:cNvPr id="392" name="Google Shape;392;p44"/>
          <p:cNvSpPr/>
          <p:nvPr/>
        </p:nvSpPr>
        <p:spPr>
          <a:xfrm>
            <a:off x="377200" y="3118104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4"/>
          <p:cNvSpPr txBox="1"/>
          <p:nvPr/>
        </p:nvSpPr>
        <p:spPr>
          <a:xfrm>
            <a:off x="411491" y="3138678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sz="1100"/>
          </a:p>
        </p:txBody>
      </p:sp>
      <p:sp>
        <p:nvSpPr>
          <p:cNvPr id="394" name="Google Shape;394;p44"/>
          <p:cNvSpPr/>
          <p:nvPr/>
        </p:nvSpPr>
        <p:spPr>
          <a:xfrm>
            <a:off x="3177625" y="3118104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4"/>
          <p:cNvSpPr txBox="1"/>
          <p:nvPr/>
        </p:nvSpPr>
        <p:spPr>
          <a:xfrm>
            <a:off x="3211915" y="3138678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JWT + bcryptjs</a:t>
            </a:r>
            <a:endParaRPr sz="1100"/>
          </a:p>
        </p:txBody>
      </p:sp>
      <p:sp>
        <p:nvSpPr>
          <p:cNvPr id="396" name="Google Shape;396;p44"/>
          <p:cNvSpPr/>
          <p:nvPr/>
        </p:nvSpPr>
        <p:spPr>
          <a:xfrm>
            <a:off x="5978049" y="3118104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4"/>
          <p:cNvSpPr txBox="1"/>
          <p:nvPr/>
        </p:nvSpPr>
        <p:spPr>
          <a:xfrm>
            <a:off x="6012340" y="3138678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sz="1100"/>
          </a:p>
        </p:txBody>
      </p:sp>
      <p:sp>
        <p:nvSpPr>
          <p:cNvPr id="398" name="Google Shape;398;p44"/>
          <p:cNvSpPr/>
          <p:nvPr/>
        </p:nvSpPr>
        <p:spPr>
          <a:xfrm>
            <a:off x="377200" y="3504437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4"/>
          <p:cNvSpPr txBox="1"/>
          <p:nvPr/>
        </p:nvSpPr>
        <p:spPr>
          <a:xfrm>
            <a:off x="411491" y="3525012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AI / Charts</a:t>
            </a:r>
            <a:endParaRPr sz="1100"/>
          </a:p>
        </p:txBody>
      </p:sp>
      <p:sp>
        <p:nvSpPr>
          <p:cNvPr id="400" name="Google Shape;400;p44"/>
          <p:cNvSpPr/>
          <p:nvPr/>
        </p:nvSpPr>
        <p:spPr>
          <a:xfrm>
            <a:off x="3177625" y="3504437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4"/>
          <p:cNvSpPr txBox="1"/>
          <p:nvPr/>
        </p:nvSpPr>
        <p:spPr>
          <a:xfrm>
            <a:off x="3211915" y="3525012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Weighted regression + Recharts</a:t>
            </a:r>
            <a:endParaRPr sz="1100"/>
          </a:p>
        </p:txBody>
      </p:sp>
      <p:sp>
        <p:nvSpPr>
          <p:cNvPr id="402" name="Google Shape;402;p44"/>
          <p:cNvSpPr/>
          <p:nvPr/>
        </p:nvSpPr>
        <p:spPr>
          <a:xfrm>
            <a:off x="5978049" y="3504437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4"/>
          <p:cNvSpPr txBox="1"/>
          <p:nvPr/>
        </p:nvSpPr>
        <p:spPr>
          <a:xfrm>
            <a:off x="6012340" y="3525012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Prediction &amp; analytics</a:t>
            </a:r>
            <a:endParaRPr sz="1100"/>
          </a:p>
        </p:txBody>
      </p:sp>
      <p:sp>
        <p:nvSpPr>
          <p:cNvPr id="404" name="Google Shape;404;p44"/>
          <p:cNvSpPr/>
          <p:nvPr/>
        </p:nvSpPr>
        <p:spPr>
          <a:xfrm>
            <a:off x="377200" y="3890772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4"/>
          <p:cNvSpPr txBox="1"/>
          <p:nvPr/>
        </p:nvSpPr>
        <p:spPr>
          <a:xfrm>
            <a:off x="411491" y="3911346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QR / HTTP</a:t>
            </a:r>
            <a:endParaRPr sz="1100"/>
          </a:p>
        </p:txBody>
      </p:sp>
      <p:sp>
        <p:nvSpPr>
          <p:cNvPr id="406" name="Google Shape;406;p44"/>
          <p:cNvSpPr/>
          <p:nvPr/>
        </p:nvSpPr>
        <p:spPr>
          <a:xfrm>
            <a:off x="3177625" y="3890772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4"/>
          <p:cNvSpPr txBox="1"/>
          <p:nvPr/>
        </p:nvSpPr>
        <p:spPr>
          <a:xfrm>
            <a:off x="3211915" y="3911346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qrcode + qrcode.react + Axios</a:t>
            </a:r>
            <a:endParaRPr sz="1100"/>
          </a:p>
        </p:txBody>
      </p:sp>
      <p:sp>
        <p:nvSpPr>
          <p:cNvPr id="408" name="Google Shape;408;p44"/>
          <p:cNvSpPr/>
          <p:nvPr/>
        </p:nvSpPr>
        <p:spPr>
          <a:xfrm>
            <a:off x="5978049" y="3890772"/>
            <a:ext cx="2800424" cy="38633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4"/>
          <p:cNvSpPr txBox="1"/>
          <p:nvPr/>
        </p:nvSpPr>
        <p:spPr>
          <a:xfrm>
            <a:off x="6012340" y="3911346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QR and API communication</a:t>
            </a:r>
            <a:endParaRPr sz="1100"/>
          </a:p>
        </p:txBody>
      </p:sp>
      <p:sp>
        <p:nvSpPr>
          <p:cNvPr id="410" name="Google Shape;410;p44"/>
          <p:cNvSpPr/>
          <p:nvPr/>
        </p:nvSpPr>
        <p:spPr>
          <a:xfrm>
            <a:off x="377200" y="4277106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4"/>
          <p:cNvSpPr txBox="1"/>
          <p:nvPr/>
        </p:nvSpPr>
        <p:spPr>
          <a:xfrm>
            <a:off x="411491" y="4297680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sz="1100"/>
          </a:p>
        </p:txBody>
      </p:sp>
      <p:sp>
        <p:nvSpPr>
          <p:cNvPr id="412" name="Google Shape;412;p44"/>
          <p:cNvSpPr/>
          <p:nvPr/>
        </p:nvSpPr>
        <p:spPr>
          <a:xfrm>
            <a:off x="3177625" y="4277106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4"/>
          <p:cNvSpPr txBox="1"/>
          <p:nvPr/>
        </p:nvSpPr>
        <p:spPr>
          <a:xfrm>
            <a:off x="3211915" y="4297680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VS Code, Git, Postman</a:t>
            </a:r>
            <a:endParaRPr sz="1100"/>
          </a:p>
        </p:txBody>
      </p:sp>
      <p:sp>
        <p:nvSpPr>
          <p:cNvPr id="414" name="Google Shape;414;p44"/>
          <p:cNvSpPr/>
          <p:nvPr/>
        </p:nvSpPr>
        <p:spPr>
          <a:xfrm>
            <a:off x="5978049" y="4277106"/>
            <a:ext cx="2800424" cy="3863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4"/>
          <p:cNvSpPr txBox="1"/>
          <p:nvPr/>
        </p:nvSpPr>
        <p:spPr>
          <a:xfrm>
            <a:off x="6012340" y="4297680"/>
            <a:ext cx="2731842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Development &amp; testing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5"/>
          <p:cNvSpPr txBox="1"/>
          <p:nvPr/>
        </p:nvSpPr>
        <p:spPr>
          <a:xfrm>
            <a:off x="548655" y="233172"/>
            <a:ext cx="75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UI Design</a:t>
            </a:r>
            <a:endParaRPr sz="1100"/>
          </a:p>
        </p:txBody>
      </p:sp>
      <p:sp>
        <p:nvSpPr>
          <p:cNvPr id="422" name="Google Shape;422;p45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  <p:sp>
        <p:nvSpPr>
          <p:cNvPr id="423" name="Google Shape;423;p45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424" name="Google Shape;424;p45"/>
          <p:cNvSpPr/>
          <p:nvPr/>
        </p:nvSpPr>
        <p:spPr>
          <a:xfrm>
            <a:off x="480073" y="891540"/>
            <a:ext cx="3977746" cy="34975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5"/>
          <p:cNvSpPr txBox="1"/>
          <p:nvPr/>
        </p:nvSpPr>
        <p:spPr>
          <a:xfrm>
            <a:off x="651527" y="1014984"/>
            <a:ext cx="36348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Customer UI</a:t>
            </a:r>
            <a:endParaRPr sz="1100"/>
          </a:p>
        </p:txBody>
      </p:sp>
      <p:sp>
        <p:nvSpPr>
          <p:cNvPr id="426" name="Google Shape;426;p45"/>
          <p:cNvSpPr txBox="1"/>
          <p:nvPr/>
        </p:nvSpPr>
        <p:spPr>
          <a:xfrm>
            <a:off x="651527" y="1289488"/>
            <a:ext cx="3634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Dark, high-contrast mobile design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Single-column, thumb-friendly layout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Large token and live status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Live counter grid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Turn alert + phone vibration</a:t>
            </a:r>
            <a:endParaRPr sz="1100"/>
          </a:p>
        </p:txBody>
      </p:sp>
      <p:sp>
        <p:nvSpPr>
          <p:cNvPr id="427" name="Google Shape;427;p45"/>
          <p:cNvSpPr/>
          <p:nvPr/>
        </p:nvSpPr>
        <p:spPr>
          <a:xfrm>
            <a:off x="4629273" y="891540"/>
            <a:ext cx="3977746" cy="34975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5"/>
          <p:cNvSpPr txBox="1"/>
          <p:nvPr/>
        </p:nvSpPr>
        <p:spPr>
          <a:xfrm>
            <a:off x="4800728" y="1014984"/>
            <a:ext cx="36348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Staff / Admin UI</a:t>
            </a:r>
            <a:endParaRPr sz="1100"/>
          </a:p>
        </p:txBody>
      </p:sp>
      <p:sp>
        <p:nvSpPr>
          <p:cNvPr id="429" name="Google Shape;429;p45"/>
          <p:cNvSpPr txBox="1"/>
          <p:nvPr/>
        </p:nvSpPr>
        <p:spPr>
          <a:xfrm>
            <a:off x="4800728" y="1281277"/>
            <a:ext cx="3634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Dark dashboard with indigo accents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Live counter monitoring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AI recommendation panel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Queue/history tables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Counters, analytics and settings</a:t>
            </a:r>
            <a:endParaRPr sz="1100"/>
          </a:p>
        </p:txBody>
      </p:sp>
      <p:sp>
        <p:nvSpPr>
          <p:cNvPr id="430" name="Google Shape;430;p45"/>
          <p:cNvSpPr txBox="1"/>
          <p:nvPr/>
        </p:nvSpPr>
        <p:spPr>
          <a:xfrm>
            <a:off x="651527" y="4457700"/>
            <a:ext cx="768116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Main screens: Customer Check-In • Token Status • Login • Dashboard • Queue • Counters • Analytics • Settings</a:t>
            </a:r>
            <a:endParaRPr sz="1100"/>
          </a:p>
        </p:txBody>
      </p:sp>
      <p:pic>
        <p:nvPicPr>
          <p:cNvPr id="431" name="Google Shape;431;p45" title="05_screen_your_tu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451" y="2571750"/>
            <a:ext cx="2225001" cy="165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5" title="07_screen_staff_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650" y="2571751"/>
            <a:ext cx="2225001" cy="165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6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Frontend Development</a:t>
            </a:r>
            <a:endParaRPr sz="1100"/>
          </a:p>
        </p:txBody>
      </p:sp>
      <p:sp>
        <p:nvSpPr>
          <p:cNvPr id="439" name="Google Shape;439;p46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  <p:sp>
        <p:nvSpPr>
          <p:cNvPr id="440" name="Google Shape;440;p46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441" name="Google Shape;441;p46"/>
          <p:cNvSpPr/>
          <p:nvPr/>
        </p:nvSpPr>
        <p:spPr>
          <a:xfrm>
            <a:off x="514364" y="891540"/>
            <a:ext cx="3943455" cy="34975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6"/>
          <p:cNvSpPr txBox="1"/>
          <p:nvPr/>
        </p:nvSpPr>
        <p:spPr>
          <a:xfrm>
            <a:off x="685818" y="1014984"/>
            <a:ext cx="3600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Application Structure</a:t>
            </a:r>
            <a:endParaRPr sz="1100"/>
          </a:p>
        </p:txBody>
      </p:sp>
      <p:sp>
        <p:nvSpPr>
          <p:cNvPr id="443" name="Google Shape;443;p46"/>
          <p:cNvSpPr txBox="1"/>
          <p:nvPr/>
        </p:nvSpPr>
        <p:spPr>
          <a:xfrm>
            <a:off x="685818" y="1371600"/>
            <a:ext cx="3600546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React 19 + Vite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Customer routes: /customer, /customer/token/:tokenId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Staff routes: /, /queue, /counters, /analytics, /settings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AuthContext for login session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QueueContext for tokens, counters and live events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Axios through /api proxy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Socket.IO through current LAN origin</a:t>
            </a:r>
            <a:endParaRPr sz="1100"/>
          </a:p>
        </p:txBody>
      </p:sp>
      <p:sp>
        <p:nvSpPr>
          <p:cNvPr id="444" name="Google Shape;444;p46"/>
          <p:cNvSpPr/>
          <p:nvPr/>
        </p:nvSpPr>
        <p:spPr>
          <a:xfrm>
            <a:off x="4629273" y="891540"/>
            <a:ext cx="3943455" cy="34975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4800728" y="1014984"/>
            <a:ext cx="3600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Key Screens</a:t>
            </a:r>
            <a:endParaRPr sz="1100"/>
          </a:p>
        </p:txBody>
      </p:sp>
      <p:sp>
        <p:nvSpPr>
          <p:cNvPr id="446" name="Google Shape;446;p46"/>
          <p:cNvSpPr txBox="1"/>
          <p:nvPr/>
        </p:nvSpPr>
        <p:spPr>
          <a:xfrm>
            <a:off x="4800728" y="1371600"/>
            <a:ext cx="3600546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CustomerPortal.jsx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TokenStatus.jsx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LoginPage.jsx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Dashboard.jsx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QueuePage.jsx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CountersPage.jsx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AnalyticsPage.jsx / SettingsPage.jsx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7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Backend Development</a:t>
            </a:r>
            <a:endParaRPr sz="1100"/>
          </a:p>
        </p:txBody>
      </p:sp>
      <p:sp>
        <p:nvSpPr>
          <p:cNvPr id="453" name="Google Shape;453;p47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/>
          </a:p>
        </p:txBody>
      </p:sp>
      <p:sp>
        <p:nvSpPr>
          <p:cNvPr id="454" name="Google Shape;454;p47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455" name="Google Shape;455;p47"/>
          <p:cNvSpPr txBox="1"/>
          <p:nvPr/>
        </p:nvSpPr>
        <p:spPr>
          <a:xfrm>
            <a:off x="617236" y="891540"/>
            <a:ext cx="7818328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Node.js + Express server with Socket.IO.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Controllers for auth, tokens, counters, services, queue and analytics.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Token actions: create, call, start, complete, skip and transfer.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Counter actions: create, update, deactivate and Call Next.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JWT middleware and bcrypt password handling.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Central error handler for validation and duplicate-key errors.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Local MongoDB with automatic embedded fallback.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Socket events are emitted only after successful database writes.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8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8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Database Integration</a:t>
            </a:r>
            <a:endParaRPr sz="1100"/>
          </a:p>
        </p:txBody>
      </p:sp>
      <p:sp>
        <p:nvSpPr>
          <p:cNvPr id="462" name="Google Shape;462;p48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/>
          </a:p>
        </p:txBody>
      </p:sp>
      <p:sp>
        <p:nvSpPr>
          <p:cNvPr id="463" name="Google Shape;463;p48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464" name="Google Shape;464;p48"/>
          <p:cNvSpPr/>
          <p:nvPr/>
        </p:nvSpPr>
        <p:spPr>
          <a:xfrm>
            <a:off x="377200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8"/>
          <p:cNvSpPr txBox="1"/>
          <p:nvPr/>
        </p:nvSpPr>
        <p:spPr>
          <a:xfrm>
            <a:off x="411491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Collection</a:t>
            </a:r>
            <a:endParaRPr sz="1100"/>
          </a:p>
        </p:txBody>
      </p:sp>
      <p:sp>
        <p:nvSpPr>
          <p:cNvPr id="466" name="Google Shape;466;p48"/>
          <p:cNvSpPr/>
          <p:nvPr/>
        </p:nvSpPr>
        <p:spPr>
          <a:xfrm>
            <a:off x="3177625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8"/>
          <p:cNvSpPr txBox="1"/>
          <p:nvPr/>
        </p:nvSpPr>
        <p:spPr>
          <a:xfrm>
            <a:off x="3211915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Important Fields</a:t>
            </a:r>
            <a:endParaRPr sz="1100"/>
          </a:p>
        </p:txBody>
      </p:sp>
      <p:sp>
        <p:nvSpPr>
          <p:cNvPr id="468" name="Google Shape;468;p48"/>
          <p:cNvSpPr/>
          <p:nvPr/>
        </p:nvSpPr>
        <p:spPr>
          <a:xfrm>
            <a:off x="5978049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8"/>
          <p:cNvSpPr txBox="1"/>
          <p:nvPr/>
        </p:nvSpPr>
        <p:spPr>
          <a:xfrm>
            <a:off x="6012340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100"/>
          </a:p>
        </p:txBody>
      </p:sp>
      <p:sp>
        <p:nvSpPr>
          <p:cNvPr id="470" name="Google Shape;470;p48"/>
          <p:cNvSpPr/>
          <p:nvPr/>
        </p:nvSpPr>
        <p:spPr>
          <a:xfrm>
            <a:off x="377200" y="1186434"/>
            <a:ext cx="2800424" cy="4749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8"/>
          <p:cNvSpPr txBox="1"/>
          <p:nvPr/>
        </p:nvSpPr>
        <p:spPr>
          <a:xfrm>
            <a:off x="411491" y="1207008"/>
            <a:ext cx="2731842" cy="440627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 sz="1100"/>
          </a:p>
        </p:txBody>
      </p:sp>
      <p:sp>
        <p:nvSpPr>
          <p:cNvPr id="472" name="Google Shape;472;p48"/>
          <p:cNvSpPr/>
          <p:nvPr/>
        </p:nvSpPr>
        <p:spPr>
          <a:xfrm>
            <a:off x="3177625" y="1186434"/>
            <a:ext cx="2800424" cy="4749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8"/>
          <p:cNvSpPr txBox="1"/>
          <p:nvPr/>
        </p:nvSpPr>
        <p:spPr>
          <a:xfrm>
            <a:off x="3211915" y="1207008"/>
            <a:ext cx="2731842" cy="440627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name, email, password, role</a:t>
            </a:r>
            <a:endParaRPr sz="1100"/>
          </a:p>
        </p:txBody>
      </p:sp>
      <p:sp>
        <p:nvSpPr>
          <p:cNvPr id="474" name="Google Shape;474;p48"/>
          <p:cNvSpPr/>
          <p:nvPr/>
        </p:nvSpPr>
        <p:spPr>
          <a:xfrm>
            <a:off x="5978049" y="1186434"/>
            <a:ext cx="2800424" cy="4749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8"/>
          <p:cNvSpPr txBox="1"/>
          <p:nvPr/>
        </p:nvSpPr>
        <p:spPr>
          <a:xfrm>
            <a:off x="6012340" y="1207008"/>
            <a:ext cx="2731842" cy="440627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Staff/Admin accounts</a:t>
            </a:r>
            <a:endParaRPr sz="1100"/>
          </a:p>
        </p:txBody>
      </p:sp>
      <p:sp>
        <p:nvSpPr>
          <p:cNvPr id="476" name="Google Shape;476;p48"/>
          <p:cNvSpPr/>
          <p:nvPr/>
        </p:nvSpPr>
        <p:spPr>
          <a:xfrm>
            <a:off x="377200" y="1661351"/>
            <a:ext cx="2800424" cy="474917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8"/>
          <p:cNvSpPr txBox="1"/>
          <p:nvPr/>
        </p:nvSpPr>
        <p:spPr>
          <a:xfrm>
            <a:off x="411491" y="1681924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Counters</a:t>
            </a:r>
            <a:endParaRPr sz="1100"/>
          </a:p>
        </p:txBody>
      </p:sp>
      <p:sp>
        <p:nvSpPr>
          <p:cNvPr id="478" name="Google Shape;478;p48"/>
          <p:cNvSpPr/>
          <p:nvPr/>
        </p:nvSpPr>
        <p:spPr>
          <a:xfrm>
            <a:off x="3177625" y="1661351"/>
            <a:ext cx="2800424" cy="474917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8"/>
          <p:cNvSpPr txBox="1"/>
          <p:nvPr/>
        </p:nvSpPr>
        <p:spPr>
          <a:xfrm>
            <a:off x="3211915" y="1681924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number, staff, status, currentTokenId, isActive</a:t>
            </a:r>
            <a:endParaRPr sz="1100"/>
          </a:p>
        </p:txBody>
      </p:sp>
      <p:sp>
        <p:nvSpPr>
          <p:cNvPr id="480" name="Google Shape;480;p48"/>
          <p:cNvSpPr/>
          <p:nvPr/>
        </p:nvSpPr>
        <p:spPr>
          <a:xfrm>
            <a:off x="5978049" y="1661351"/>
            <a:ext cx="2800424" cy="474917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8"/>
          <p:cNvSpPr txBox="1"/>
          <p:nvPr/>
        </p:nvSpPr>
        <p:spPr>
          <a:xfrm>
            <a:off x="6012340" y="1681924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Service stations</a:t>
            </a:r>
            <a:endParaRPr sz="1100"/>
          </a:p>
        </p:txBody>
      </p:sp>
      <p:sp>
        <p:nvSpPr>
          <p:cNvPr id="482" name="Google Shape;482;p48"/>
          <p:cNvSpPr/>
          <p:nvPr/>
        </p:nvSpPr>
        <p:spPr>
          <a:xfrm>
            <a:off x="377200" y="2136267"/>
            <a:ext cx="2800424" cy="4749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8"/>
          <p:cNvSpPr txBox="1"/>
          <p:nvPr/>
        </p:nvSpPr>
        <p:spPr>
          <a:xfrm>
            <a:off x="411491" y="2156841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Tokens</a:t>
            </a:r>
            <a:endParaRPr sz="1100"/>
          </a:p>
        </p:txBody>
      </p:sp>
      <p:sp>
        <p:nvSpPr>
          <p:cNvPr id="484" name="Google Shape;484;p48"/>
          <p:cNvSpPr/>
          <p:nvPr/>
        </p:nvSpPr>
        <p:spPr>
          <a:xfrm>
            <a:off x="3177625" y="2136267"/>
            <a:ext cx="2800424" cy="4749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8"/>
          <p:cNvSpPr txBox="1"/>
          <p:nvPr/>
        </p:nvSpPr>
        <p:spPr>
          <a:xfrm>
            <a:off x="3211915" y="2156841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tokenNumber, customer, service, status, counter, timings</a:t>
            </a:r>
            <a:endParaRPr sz="1100"/>
          </a:p>
        </p:txBody>
      </p:sp>
      <p:sp>
        <p:nvSpPr>
          <p:cNvPr id="486" name="Google Shape;486;p48"/>
          <p:cNvSpPr/>
          <p:nvPr/>
        </p:nvSpPr>
        <p:spPr>
          <a:xfrm>
            <a:off x="5978049" y="2136267"/>
            <a:ext cx="2800424" cy="4749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8"/>
          <p:cNvSpPr txBox="1"/>
          <p:nvPr/>
        </p:nvSpPr>
        <p:spPr>
          <a:xfrm>
            <a:off x="6012340" y="2156841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Queue records</a:t>
            </a:r>
            <a:endParaRPr sz="1100"/>
          </a:p>
        </p:txBody>
      </p:sp>
      <p:sp>
        <p:nvSpPr>
          <p:cNvPr id="488" name="Google Shape;488;p48"/>
          <p:cNvSpPr/>
          <p:nvPr/>
        </p:nvSpPr>
        <p:spPr>
          <a:xfrm>
            <a:off x="377200" y="2611184"/>
            <a:ext cx="2800424" cy="474917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8"/>
          <p:cNvSpPr txBox="1"/>
          <p:nvPr/>
        </p:nvSpPr>
        <p:spPr>
          <a:xfrm>
            <a:off x="411491" y="2631757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sz="1100"/>
          </a:p>
        </p:txBody>
      </p:sp>
      <p:sp>
        <p:nvSpPr>
          <p:cNvPr id="490" name="Google Shape;490;p48"/>
          <p:cNvSpPr/>
          <p:nvPr/>
        </p:nvSpPr>
        <p:spPr>
          <a:xfrm>
            <a:off x="3177625" y="2611184"/>
            <a:ext cx="2800424" cy="474917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8"/>
          <p:cNvSpPr txBox="1"/>
          <p:nvPr/>
        </p:nvSpPr>
        <p:spPr>
          <a:xfrm>
            <a:off x="3211915" y="2631757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name, code, averageDuration, active</a:t>
            </a:r>
            <a:endParaRPr sz="1100"/>
          </a:p>
        </p:txBody>
      </p:sp>
      <p:sp>
        <p:nvSpPr>
          <p:cNvPr id="492" name="Google Shape;492;p48"/>
          <p:cNvSpPr/>
          <p:nvPr/>
        </p:nvSpPr>
        <p:spPr>
          <a:xfrm>
            <a:off x="5978049" y="2611184"/>
            <a:ext cx="2800424" cy="474917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8"/>
          <p:cNvSpPr txBox="1"/>
          <p:nvPr/>
        </p:nvSpPr>
        <p:spPr>
          <a:xfrm>
            <a:off x="6012340" y="2631757"/>
            <a:ext cx="2731842" cy="4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Service categories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514364" y="3291840"/>
            <a:ext cx="3943455" cy="9944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8"/>
          <p:cNvSpPr txBox="1"/>
          <p:nvPr/>
        </p:nvSpPr>
        <p:spPr>
          <a:xfrm>
            <a:off x="685818" y="3415284"/>
            <a:ext cx="3600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 sz="1100"/>
          </a:p>
        </p:txBody>
      </p:sp>
      <p:sp>
        <p:nvSpPr>
          <p:cNvPr id="496" name="Google Shape;496;p48"/>
          <p:cNvSpPr txBox="1"/>
          <p:nvPr/>
        </p:nvSpPr>
        <p:spPr>
          <a:xfrm>
            <a:off x="685818" y="3771900"/>
            <a:ext cx="36005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Request → Mongoose → MongoDB → successful write → Socket.IO</a:t>
            </a:r>
            <a:endParaRPr sz="1100"/>
          </a:p>
        </p:txBody>
      </p:sp>
      <p:sp>
        <p:nvSpPr>
          <p:cNvPr id="497" name="Google Shape;497;p48"/>
          <p:cNvSpPr/>
          <p:nvPr/>
        </p:nvSpPr>
        <p:spPr>
          <a:xfrm>
            <a:off x="4629273" y="3291840"/>
            <a:ext cx="3943455" cy="9944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4800728" y="3415284"/>
            <a:ext cx="3600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Seed Data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28" y="3771900"/>
            <a:ext cx="36005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Admin + staff • 5 services • 4 counters • 15 historical records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9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9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API Development</a:t>
            </a:r>
            <a:endParaRPr sz="1100"/>
          </a:p>
        </p:txBody>
      </p:sp>
      <p:sp>
        <p:nvSpPr>
          <p:cNvPr id="506" name="Google Shape;506;p49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100"/>
          </a:p>
        </p:txBody>
      </p:sp>
      <p:sp>
        <p:nvSpPr>
          <p:cNvPr id="507" name="Google Shape;507;p49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508" name="Google Shape;508;p49"/>
          <p:cNvSpPr/>
          <p:nvPr/>
        </p:nvSpPr>
        <p:spPr>
          <a:xfrm>
            <a:off x="308618" y="788670"/>
            <a:ext cx="2846145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9"/>
          <p:cNvSpPr txBox="1"/>
          <p:nvPr/>
        </p:nvSpPr>
        <p:spPr>
          <a:xfrm>
            <a:off x="342909" y="836676"/>
            <a:ext cx="27775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100"/>
          </a:p>
        </p:txBody>
      </p:sp>
      <p:sp>
        <p:nvSpPr>
          <p:cNvPr id="510" name="Google Shape;510;p49"/>
          <p:cNvSpPr/>
          <p:nvPr/>
        </p:nvSpPr>
        <p:spPr>
          <a:xfrm>
            <a:off x="3154764" y="788670"/>
            <a:ext cx="2846145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9"/>
          <p:cNvSpPr txBox="1"/>
          <p:nvPr/>
        </p:nvSpPr>
        <p:spPr>
          <a:xfrm>
            <a:off x="3189054" y="836676"/>
            <a:ext cx="27775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Endpoint</a:t>
            </a:r>
            <a:endParaRPr sz="1100"/>
          </a:p>
        </p:txBody>
      </p:sp>
      <p:sp>
        <p:nvSpPr>
          <p:cNvPr id="512" name="Google Shape;512;p49"/>
          <p:cNvSpPr/>
          <p:nvPr/>
        </p:nvSpPr>
        <p:spPr>
          <a:xfrm>
            <a:off x="6000909" y="788670"/>
            <a:ext cx="2846145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9"/>
          <p:cNvSpPr txBox="1"/>
          <p:nvPr/>
        </p:nvSpPr>
        <p:spPr>
          <a:xfrm>
            <a:off x="6035200" y="836676"/>
            <a:ext cx="27775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100"/>
          </a:p>
        </p:txBody>
      </p:sp>
      <p:sp>
        <p:nvSpPr>
          <p:cNvPr id="514" name="Google Shape;514;p49"/>
          <p:cNvSpPr/>
          <p:nvPr/>
        </p:nvSpPr>
        <p:spPr>
          <a:xfrm>
            <a:off x="308618" y="1117854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9"/>
          <p:cNvSpPr txBox="1"/>
          <p:nvPr/>
        </p:nvSpPr>
        <p:spPr>
          <a:xfrm>
            <a:off x="342909" y="1138428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100"/>
          </a:p>
        </p:txBody>
      </p:sp>
      <p:sp>
        <p:nvSpPr>
          <p:cNvPr id="516" name="Google Shape;516;p49"/>
          <p:cNvSpPr/>
          <p:nvPr/>
        </p:nvSpPr>
        <p:spPr>
          <a:xfrm>
            <a:off x="3154764" y="1117854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3189054" y="1138428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/api/auth/login</a:t>
            </a:r>
            <a:endParaRPr sz="1100"/>
          </a:p>
        </p:txBody>
      </p:sp>
      <p:sp>
        <p:nvSpPr>
          <p:cNvPr id="518" name="Google Shape;518;p49"/>
          <p:cNvSpPr/>
          <p:nvPr/>
        </p:nvSpPr>
        <p:spPr>
          <a:xfrm>
            <a:off x="6000909" y="1117854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9"/>
          <p:cNvSpPr txBox="1"/>
          <p:nvPr/>
        </p:nvSpPr>
        <p:spPr>
          <a:xfrm>
            <a:off x="6035200" y="1138428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Staff/Admin login</a:t>
            </a:r>
            <a:endParaRPr sz="1100"/>
          </a:p>
        </p:txBody>
      </p:sp>
      <p:sp>
        <p:nvSpPr>
          <p:cNvPr id="520" name="Google Shape;520;p49"/>
          <p:cNvSpPr/>
          <p:nvPr/>
        </p:nvSpPr>
        <p:spPr>
          <a:xfrm>
            <a:off x="308618" y="1398504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9"/>
          <p:cNvSpPr txBox="1"/>
          <p:nvPr/>
        </p:nvSpPr>
        <p:spPr>
          <a:xfrm>
            <a:off x="342909" y="1419078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GET / POST</a:t>
            </a:r>
            <a:endParaRPr sz="1100"/>
          </a:p>
        </p:txBody>
      </p:sp>
      <p:sp>
        <p:nvSpPr>
          <p:cNvPr id="522" name="Google Shape;522;p49"/>
          <p:cNvSpPr/>
          <p:nvPr/>
        </p:nvSpPr>
        <p:spPr>
          <a:xfrm>
            <a:off x="3154764" y="1398504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9"/>
          <p:cNvSpPr txBox="1"/>
          <p:nvPr/>
        </p:nvSpPr>
        <p:spPr>
          <a:xfrm>
            <a:off x="3189054" y="1419078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/api/tokens</a:t>
            </a:r>
            <a:endParaRPr sz="1100"/>
          </a:p>
        </p:txBody>
      </p:sp>
      <p:sp>
        <p:nvSpPr>
          <p:cNvPr id="524" name="Google Shape;524;p49"/>
          <p:cNvSpPr/>
          <p:nvPr/>
        </p:nvSpPr>
        <p:spPr>
          <a:xfrm>
            <a:off x="6000909" y="1398504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9"/>
          <p:cNvSpPr txBox="1"/>
          <p:nvPr/>
        </p:nvSpPr>
        <p:spPr>
          <a:xfrm>
            <a:off x="6035200" y="1419078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View / create tokens</a:t>
            </a:r>
            <a:endParaRPr sz="1100"/>
          </a:p>
        </p:txBody>
      </p:sp>
      <p:sp>
        <p:nvSpPr>
          <p:cNvPr id="526" name="Google Shape;526;p49"/>
          <p:cNvSpPr/>
          <p:nvPr/>
        </p:nvSpPr>
        <p:spPr>
          <a:xfrm>
            <a:off x="308618" y="1679155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9"/>
          <p:cNvSpPr txBox="1"/>
          <p:nvPr/>
        </p:nvSpPr>
        <p:spPr>
          <a:xfrm>
            <a:off x="342909" y="1699729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sz="1100"/>
          </a:p>
        </p:txBody>
      </p:sp>
      <p:sp>
        <p:nvSpPr>
          <p:cNvPr id="528" name="Google Shape;528;p49"/>
          <p:cNvSpPr/>
          <p:nvPr/>
        </p:nvSpPr>
        <p:spPr>
          <a:xfrm>
            <a:off x="3154764" y="1679155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9"/>
          <p:cNvSpPr txBox="1"/>
          <p:nvPr/>
        </p:nvSpPr>
        <p:spPr>
          <a:xfrm>
            <a:off x="3189054" y="1699729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/api/tokens/:id</a:t>
            </a:r>
            <a:endParaRPr sz="1100"/>
          </a:p>
        </p:txBody>
      </p:sp>
      <p:sp>
        <p:nvSpPr>
          <p:cNvPr id="530" name="Google Shape;530;p49"/>
          <p:cNvSpPr/>
          <p:nvPr/>
        </p:nvSpPr>
        <p:spPr>
          <a:xfrm>
            <a:off x="6000909" y="1679155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9"/>
          <p:cNvSpPr txBox="1"/>
          <p:nvPr/>
        </p:nvSpPr>
        <p:spPr>
          <a:xfrm>
            <a:off x="6035200" y="1699729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Token details</a:t>
            </a:r>
            <a:endParaRPr sz="1100"/>
          </a:p>
        </p:txBody>
      </p:sp>
      <p:sp>
        <p:nvSpPr>
          <p:cNvPr id="532" name="Google Shape;532;p49"/>
          <p:cNvSpPr/>
          <p:nvPr/>
        </p:nvSpPr>
        <p:spPr>
          <a:xfrm>
            <a:off x="308618" y="1959805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9"/>
          <p:cNvSpPr txBox="1"/>
          <p:nvPr/>
        </p:nvSpPr>
        <p:spPr>
          <a:xfrm>
            <a:off x="342909" y="1980379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100"/>
          </a:p>
        </p:txBody>
      </p:sp>
      <p:sp>
        <p:nvSpPr>
          <p:cNvPr id="534" name="Google Shape;534;p49"/>
          <p:cNvSpPr/>
          <p:nvPr/>
        </p:nvSpPr>
        <p:spPr>
          <a:xfrm>
            <a:off x="3154764" y="1959805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9"/>
          <p:cNvSpPr txBox="1"/>
          <p:nvPr/>
        </p:nvSpPr>
        <p:spPr>
          <a:xfrm>
            <a:off x="3189054" y="1980379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/api/tokens/:id/call</a:t>
            </a:r>
            <a:endParaRPr sz="1100"/>
          </a:p>
        </p:txBody>
      </p:sp>
      <p:sp>
        <p:nvSpPr>
          <p:cNvPr id="536" name="Google Shape;536;p49"/>
          <p:cNvSpPr/>
          <p:nvPr/>
        </p:nvSpPr>
        <p:spPr>
          <a:xfrm>
            <a:off x="6000909" y="1959805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9"/>
          <p:cNvSpPr txBox="1"/>
          <p:nvPr/>
        </p:nvSpPr>
        <p:spPr>
          <a:xfrm>
            <a:off x="6035200" y="1980379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Call token</a:t>
            </a:r>
            <a:endParaRPr sz="1100"/>
          </a:p>
        </p:txBody>
      </p:sp>
      <p:sp>
        <p:nvSpPr>
          <p:cNvPr id="538" name="Google Shape;538;p49"/>
          <p:cNvSpPr/>
          <p:nvPr/>
        </p:nvSpPr>
        <p:spPr>
          <a:xfrm>
            <a:off x="308618" y="2240456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9"/>
          <p:cNvSpPr txBox="1"/>
          <p:nvPr/>
        </p:nvSpPr>
        <p:spPr>
          <a:xfrm>
            <a:off x="342909" y="226103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100"/>
          </a:p>
        </p:txBody>
      </p:sp>
      <p:sp>
        <p:nvSpPr>
          <p:cNvPr id="540" name="Google Shape;540;p49"/>
          <p:cNvSpPr/>
          <p:nvPr/>
        </p:nvSpPr>
        <p:spPr>
          <a:xfrm>
            <a:off x="3154764" y="2240456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9"/>
          <p:cNvSpPr txBox="1"/>
          <p:nvPr/>
        </p:nvSpPr>
        <p:spPr>
          <a:xfrm>
            <a:off x="3189054" y="226103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/api/tokens/:id/start</a:t>
            </a:r>
            <a:endParaRPr sz="1100"/>
          </a:p>
        </p:txBody>
      </p:sp>
      <p:sp>
        <p:nvSpPr>
          <p:cNvPr id="542" name="Google Shape;542;p49"/>
          <p:cNvSpPr/>
          <p:nvPr/>
        </p:nvSpPr>
        <p:spPr>
          <a:xfrm>
            <a:off x="6000909" y="2240456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9"/>
          <p:cNvSpPr txBox="1"/>
          <p:nvPr/>
        </p:nvSpPr>
        <p:spPr>
          <a:xfrm>
            <a:off x="6035200" y="226103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Start service</a:t>
            </a:r>
            <a:endParaRPr sz="1100"/>
          </a:p>
        </p:txBody>
      </p:sp>
      <p:sp>
        <p:nvSpPr>
          <p:cNvPr id="544" name="Google Shape;544;p49"/>
          <p:cNvSpPr/>
          <p:nvPr/>
        </p:nvSpPr>
        <p:spPr>
          <a:xfrm>
            <a:off x="308618" y="2521106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9"/>
          <p:cNvSpPr txBox="1"/>
          <p:nvPr/>
        </p:nvSpPr>
        <p:spPr>
          <a:xfrm>
            <a:off x="342909" y="254168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100"/>
          </a:p>
        </p:txBody>
      </p:sp>
      <p:sp>
        <p:nvSpPr>
          <p:cNvPr id="546" name="Google Shape;546;p49"/>
          <p:cNvSpPr/>
          <p:nvPr/>
        </p:nvSpPr>
        <p:spPr>
          <a:xfrm>
            <a:off x="3154764" y="2521106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9"/>
          <p:cNvSpPr txBox="1"/>
          <p:nvPr/>
        </p:nvSpPr>
        <p:spPr>
          <a:xfrm>
            <a:off x="3189054" y="254168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/api/tokens/:id/complete</a:t>
            </a:r>
            <a:endParaRPr sz="1100"/>
          </a:p>
        </p:txBody>
      </p:sp>
      <p:sp>
        <p:nvSpPr>
          <p:cNvPr id="548" name="Google Shape;548;p49"/>
          <p:cNvSpPr/>
          <p:nvPr/>
        </p:nvSpPr>
        <p:spPr>
          <a:xfrm>
            <a:off x="6000909" y="2521106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9"/>
          <p:cNvSpPr txBox="1"/>
          <p:nvPr/>
        </p:nvSpPr>
        <p:spPr>
          <a:xfrm>
            <a:off x="6035200" y="254168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 service</a:t>
            </a:r>
            <a:endParaRPr sz="1100"/>
          </a:p>
        </p:txBody>
      </p:sp>
      <p:sp>
        <p:nvSpPr>
          <p:cNvPr id="550" name="Google Shape;550;p49"/>
          <p:cNvSpPr/>
          <p:nvPr/>
        </p:nvSpPr>
        <p:spPr>
          <a:xfrm>
            <a:off x="308618" y="2801756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9"/>
          <p:cNvSpPr txBox="1"/>
          <p:nvPr/>
        </p:nvSpPr>
        <p:spPr>
          <a:xfrm>
            <a:off x="342909" y="282233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100"/>
          </a:p>
        </p:txBody>
      </p:sp>
      <p:sp>
        <p:nvSpPr>
          <p:cNvPr id="552" name="Google Shape;552;p49"/>
          <p:cNvSpPr/>
          <p:nvPr/>
        </p:nvSpPr>
        <p:spPr>
          <a:xfrm>
            <a:off x="3154764" y="2801756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9"/>
          <p:cNvSpPr txBox="1"/>
          <p:nvPr/>
        </p:nvSpPr>
        <p:spPr>
          <a:xfrm>
            <a:off x="3189054" y="282233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/api/tokens/:id/skip</a:t>
            </a:r>
            <a:endParaRPr sz="1100"/>
          </a:p>
        </p:txBody>
      </p:sp>
      <p:sp>
        <p:nvSpPr>
          <p:cNvPr id="554" name="Google Shape;554;p49"/>
          <p:cNvSpPr/>
          <p:nvPr/>
        </p:nvSpPr>
        <p:spPr>
          <a:xfrm>
            <a:off x="6000909" y="2801756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9"/>
          <p:cNvSpPr txBox="1"/>
          <p:nvPr/>
        </p:nvSpPr>
        <p:spPr>
          <a:xfrm>
            <a:off x="6035200" y="2822330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Skip token</a:t>
            </a:r>
            <a:endParaRPr sz="1100"/>
          </a:p>
        </p:txBody>
      </p:sp>
      <p:sp>
        <p:nvSpPr>
          <p:cNvPr id="556" name="Google Shape;556;p49"/>
          <p:cNvSpPr/>
          <p:nvPr/>
        </p:nvSpPr>
        <p:spPr>
          <a:xfrm>
            <a:off x="308618" y="3082407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9"/>
          <p:cNvSpPr txBox="1"/>
          <p:nvPr/>
        </p:nvSpPr>
        <p:spPr>
          <a:xfrm>
            <a:off x="342909" y="3102981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100"/>
          </a:p>
        </p:txBody>
      </p:sp>
      <p:sp>
        <p:nvSpPr>
          <p:cNvPr id="558" name="Google Shape;558;p49"/>
          <p:cNvSpPr/>
          <p:nvPr/>
        </p:nvSpPr>
        <p:spPr>
          <a:xfrm>
            <a:off x="3154764" y="3082407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9"/>
          <p:cNvSpPr txBox="1"/>
          <p:nvPr/>
        </p:nvSpPr>
        <p:spPr>
          <a:xfrm>
            <a:off x="3189054" y="3102981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/api/tokens/:id/transfer</a:t>
            </a:r>
            <a:endParaRPr sz="1100"/>
          </a:p>
        </p:txBody>
      </p:sp>
      <p:sp>
        <p:nvSpPr>
          <p:cNvPr id="560" name="Google Shape;560;p49"/>
          <p:cNvSpPr/>
          <p:nvPr/>
        </p:nvSpPr>
        <p:spPr>
          <a:xfrm>
            <a:off x="6000909" y="3082407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9"/>
          <p:cNvSpPr txBox="1"/>
          <p:nvPr/>
        </p:nvSpPr>
        <p:spPr>
          <a:xfrm>
            <a:off x="6035200" y="3102981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Transfer token</a:t>
            </a:r>
            <a:endParaRPr sz="1100"/>
          </a:p>
        </p:txBody>
      </p:sp>
      <p:sp>
        <p:nvSpPr>
          <p:cNvPr id="562" name="Google Shape;562;p49"/>
          <p:cNvSpPr/>
          <p:nvPr/>
        </p:nvSpPr>
        <p:spPr>
          <a:xfrm>
            <a:off x="308618" y="3363057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9"/>
          <p:cNvSpPr txBox="1"/>
          <p:nvPr/>
        </p:nvSpPr>
        <p:spPr>
          <a:xfrm>
            <a:off x="342909" y="3383631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GET / POST / PUT / DELETE</a:t>
            </a:r>
            <a:endParaRPr sz="1100"/>
          </a:p>
        </p:txBody>
      </p:sp>
      <p:sp>
        <p:nvSpPr>
          <p:cNvPr id="564" name="Google Shape;564;p49"/>
          <p:cNvSpPr/>
          <p:nvPr/>
        </p:nvSpPr>
        <p:spPr>
          <a:xfrm>
            <a:off x="3154764" y="3363057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9"/>
          <p:cNvSpPr txBox="1"/>
          <p:nvPr/>
        </p:nvSpPr>
        <p:spPr>
          <a:xfrm>
            <a:off x="3189054" y="3383631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/api/counters</a:t>
            </a:r>
            <a:endParaRPr sz="1100"/>
          </a:p>
        </p:txBody>
      </p:sp>
      <p:sp>
        <p:nvSpPr>
          <p:cNvPr id="566" name="Google Shape;566;p49"/>
          <p:cNvSpPr/>
          <p:nvPr/>
        </p:nvSpPr>
        <p:spPr>
          <a:xfrm>
            <a:off x="6000909" y="3363057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9"/>
          <p:cNvSpPr txBox="1"/>
          <p:nvPr/>
        </p:nvSpPr>
        <p:spPr>
          <a:xfrm>
            <a:off x="6035200" y="3383631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Manage counters</a:t>
            </a:r>
            <a:endParaRPr sz="1100"/>
          </a:p>
        </p:txBody>
      </p:sp>
      <p:sp>
        <p:nvSpPr>
          <p:cNvPr id="568" name="Google Shape;568;p49"/>
          <p:cNvSpPr/>
          <p:nvPr/>
        </p:nvSpPr>
        <p:spPr>
          <a:xfrm>
            <a:off x="308618" y="3643708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9"/>
          <p:cNvSpPr txBox="1"/>
          <p:nvPr/>
        </p:nvSpPr>
        <p:spPr>
          <a:xfrm>
            <a:off x="342909" y="3664282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GET / POST / PUT / DELETE</a:t>
            </a:r>
            <a:endParaRPr sz="1100"/>
          </a:p>
        </p:txBody>
      </p:sp>
      <p:sp>
        <p:nvSpPr>
          <p:cNvPr id="570" name="Google Shape;570;p49"/>
          <p:cNvSpPr/>
          <p:nvPr/>
        </p:nvSpPr>
        <p:spPr>
          <a:xfrm>
            <a:off x="3154764" y="3643708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9"/>
          <p:cNvSpPr txBox="1"/>
          <p:nvPr/>
        </p:nvSpPr>
        <p:spPr>
          <a:xfrm>
            <a:off x="3189054" y="3664282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/api/services</a:t>
            </a:r>
            <a:endParaRPr sz="1100"/>
          </a:p>
        </p:txBody>
      </p:sp>
      <p:sp>
        <p:nvSpPr>
          <p:cNvPr id="572" name="Google Shape;572;p49"/>
          <p:cNvSpPr/>
          <p:nvPr/>
        </p:nvSpPr>
        <p:spPr>
          <a:xfrm>
            <a:off x="6000909" y="3643708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9"/>
          <p:cNvSpPr txBox="1"/>
          <p:nvPr/>
        </p:nvSpPr>
        <p:spPr>
          <a:xfrm>
            <a:off x="6035200" y="3664282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Manage services</a:t>
            </a:r>
            <a:endParaRPr sz="1100"/>
          </a:p>
        </p:txBody>
      </p:sp>
      <p:sp>
        <p:nvSpPr>
          <p:cNvPr id="574" name="Google Shape;574;p49"/>
          <p:cNvSpPr/>
          <p:nvPr/>
        </p:nvSpPr>
        <p:spPr>
          <a:xfrm>
            <a:off x="308618" y="3924359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9"/>
          <p:cNvSpPr txBox="1"/>
          <p:nvPr/>
        </p:nvSpPr>
        <p:spPr>
          <a:xfrm>
            <a:off x="342909" y="394493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sz="1100"/>
          </a:p>
        </p:txBody>
      </p:sp>
      <p:sp>
        <p:nvSpPr>
          <p:cNvPr id="576" name="Google Shape;576;p49"/>
          <p:cNvSpPr/>
          <p:nvPr/>
        </p:nvSpPr>
        <p:spPr>
          <a:xfrm>
            <a:off x="3154764" y="3924359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9"/>
          <p:cNvSpPr txBox="1"/>
          <p:nvPr/>
        </p:nvSpPr>
        <p:spPr>
          <a:xfrm>
            <a:off x="3189054" y="394493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/api/queue</a:t>
            </a:r>
            <a:endParaRPr sz="1100"/>
          </a:p>
        </p:txBody>
      </p:sp>
      <p:sp>
        <p:nvSpPr>
          <p:cNvPr id="578" name="Google Shape;578;p49"/>
          <p:cNvSpPr/>
          <p:nvPr/>
        </p:nvSpPr>
        <p:spPr>
          <a:xfrm>
            <a:off x="6000909" y="3924359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9"/>
          <p:cNvSpPr txBox="1"/>
          <p:nvPr/>
        </p:nvSpPr>
        <p:spPr>
          <a:xfrm>
            <a:off x="6035200" y="394493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Current active queue</a:t>
            </a:r>
            <a:endParaRPr sz="1100"/>
          </a:p>
        </p:txBody>
      </p:sp>
      <p:sp>
        <p:nvSpPr>
          <p:cNvPr id="580" name="Google Shape;580;p49"/>
          <p:cNvSpPr/>
          <p:nvPr/>
        </p:nvSpPr>
        <p:spPr>
          <a:xfrm>
            <a:off x="308618" y="4205009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9"/>
          <p:cNvSpPr txBox="1"/>
          <p:nvPr/>
        </p:nvSpPr>
        <p:spPr>
          <a:xfrm>
            <a:off x="342909" y="422558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sz="1100"/>
          </a:p>
        </p:txBody>
      </p:sp>
      <p:sp>
        <p:nvSpPr>
          <p:cNvPr id="582" name="Google Shape;582;p49"/>
          <p:cNvSpPr/>
          <p:nvPr/>
        </p:nvSpPr>
        <p:spPr>
          <a:xfrm>
            <a:off x="3154764" y="4205009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9"/>
          <p:cNvSpPr txBox="1"/>
          <p:nvPr/>
        </p:nvSpPr>
        <p:spPr>
          <a:xfrm>
            <a:off x="3189054" y="422558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/api/analytics</a:t>
            </a:r>
            <a:endParaRPr sz="1100"/>
          </a:p>
        </p:txBody>
      </p:sp>
      <p:sp>
        <p:nvSpPr>
          <p:cNvPr id="584" name="Google Shape;584;p49"/>
          <p:cNvSpPr/>
          <p:nvPr/>
        </p:nvSpPr>
        <p:spPr>
          <a:xfrm>
            <a:off x="6000909" y="4205009"/>
            <a:ext cx="2846145" cy="28065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9"/>
          <p:cNvSpPr txBox="1"/>
          <p:nvPr/>
        </p:nvSpPr>
        <p:spPr>
          <a:xfrm>
            <a:off x="6035200" y="422558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Queue analytics</a:t>
            </a:r>
            <a:endParaRPr sz="1100"/>
          </a:p>
        </p:txBody>
      </p:sp>
      <p:sp>
        <p:nvSpPr>
          <p:cNvPr id="586" name="Google Shape;586;p49"/>
          <p:cNvSpPr/>
          <p:nvPr/>
        </p:nvSpPr>
        <p:spPr>
          <a:xfrm>
            <a:off x="308618" y="4485659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9"/>
          <p:cNvSpPr txBox="1"/>
          <p:nvPr/>
        </p:nvSpPr>
        <p:spPr>
          <a:xfrm>
            <a:off x="342909" y="450623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sz="1100"/>
          </a:p>
        </p:txBody>
      </p:sp>
      <p:sp>
        <p:nvSpPr>
          <p:cNvPr id="588" name="Google Shape;588;p49"/>
          <p:cNvSpPr/>
          <p:nvPr/>
        </p:nvSpPr>
        <p:spPr>
          <a:xfrm>
            <a:off x="3154764" y="4485659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9"/>
          <p:cNvSpPr txBox="1"/>
          <p:nvPr/>
        </p:nvSpPr>
        <p:spPr>
          <a:xfrm>
            <a:off x="3189054" y="450623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/api/health</a:t>
            </a:r>
            <a:endParaRPr sz="1100"/>
          </a:p>
        </p:txBody>
      </p:sp>
      <p:sp>
        <p:nvSpPr>
          <p:cNvPr id="590" name="Google Shape;590;p49"/>
          <p:cNvSpPr/>
          <p:nvPr/>
        </p:nvSpPr>
        <p:spPr>
          <a:xfrm>
            <a:off x="6000909" y="4485659"/>
            <a:ext cx="2846145" cy="2806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9"/>
          <p:cNvSpPr txBox="1"/>
          <p:nvPr/>
        </p:nvSpPr>
        <p:spPr>
          <a:xfrm>
            <a:off x="6035200" y="4506233"/>
            <a:ext cx="2777564" cy="2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Server health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0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Module-wise Implementation Status</a:t>
            </a:r>
            <a:endParaRPr sz="1100"/>
          </a:p>
        </p:txBody>
      </p:sp>
      <p:sp>
        <p:nvSpPr>
          <p:cNvPr id="598" name="Google Shape;598;p50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/>
          </a:p>
        </p:txBody>
      </p:sp>
      <p:sp>
        <p:nvSpPr>
          <p:cNvPr id="599" name="Google Shape;599;p50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600" name="Google Shape;600;p50"/>
          <p:cNvSpPr/>
          <p:nvPr/>
        </p:nvSpPr>
        <p:spPr>
          <a:xfrm>
            <a:off x="377200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0"/>
          <p:cNvSpPr txBox="1"/>
          <p:nvPr/>
        </p:nvSpPr>
        <p:spPr>
          <a:xfrm>
            <a:off x="411491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1100"/>
          </a:p>
        </p:txBody>
      </p:sp>
      <p:sp>
        <p:nvSpPr>
          <p:cNvPr id="602" name="Google Shape;602;p50"/>
          <p:cNvSpPr/>
          <p:nvPr/>
        </p:nvSpPr>
        <p:spPr>
          <a:xfrm>
            <a:off x="3177625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0"/>
          <p:cNvSpPr txBox="1"/>
          <p:nvPr/>
        </p:nvSpPr>
        <p:spPr>
          <a:xfrm>
            <a:off x="3211915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1100"/>
          </a:p>
        </p:txBody>
      </p:sp>
      <p:sp>
        <p:nvSpPr>
          <p:cNvPr id="604" name="Google Shape;604;p50"/>
          <p:cNvSpPr/>
          <p:nvPr/>
        </p:nvSpPr>
        <p:spPr>
          <a:xfrm>
            <a:off x="5978049" y="857250"/>
            <a:ext cx="2800424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0"/>
          <p:cNvSpPr txBox="1"/>
          <p:nvPr/>
        </p:nvSpPr>
        <p:spPr>
          <a:xfrm>
            <a:off x="6012340" y="905256"/>
            <a:ext cx="273184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1100"/>
          </a:p>
        </p:txBody>
      </p:sp>
      <p:sp>
        <p:nvSpPr>
          <p:cNvPr id="606" name="Google Shape;606;p50"/>
          <p:cNvSpPr/>
          <p:nvPr/>
        </p:nvSpPr>
        <p:spPr>
          <a:xfrm>
            <a:off x="377200" y="1186434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0"/>
          <p:cNvSpPr txBox="1"/>
          <p:nvPr/>
        </p:nvSpPr>
        <p:spPr>
          <a:xfrm>
            <a:off x="411491" y="1207008"/>
            <a:ext cx="2731842" cy="27868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Customer Mobile Portal</a:t>
            </a:r>
            <a:endParaRPr sz="1100"/>
          </a:p>
        </p:txBody>
      </p:sp>
      <p:sp>
        <p:nvSpPr>
          <p:cNvPr id="608" name="Google Shape;608;p50"/>
          <p:cNvSpPr/>
          <p:nvPr/>
        </p:nvSpPr>
        <p:spPr>
          <a:xfrm>
            <a:off x="3177625" y="1186434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0"/>
          <p:cNvSpPr txBox="1"/>
          <p:nvPr/>
        </p:nvSpPr>
        <p:spPr>
          <a:xfrm>
            <a:off x="3211915" y="1207008"/>
            <a:ext cx="2731842" cy="27868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10" name="Google Shape;610;p50"/>
          <p:cNvSpPr/>
          <p:nvPr/>
        </p:nvSpPr>
        <p:spPr>
          <a:xfrm>
            <a:off x="5978049" y="1186434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0"/>
          <p:cNvSpPr txBox="1"/>
          <p:nvPr/>
        </p:nvSpPr>
        <p:spPr>
          <a:xfrm>
            <a:off x="6012340" y="1207008"/>
            <a:ext cx="2731842" cy="27868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Working on mobile through LAN</a:t>
            </a:r>
            <a:endParaRPr sz="1100"/>
          </a:p>
        </p:txBody>
      </p:sp>
      <p:sp>
        <p:nvSpPr>
          <p:cNvPr id="612" name="Google Shape;612;p50"/>
          <p:cNvSpPr/>
          <p:nvPr/>
        </p:nvSpPr>
        <p:spPr>
          <a:xfrm>
            <a:off x="377200" y="1499407"/>
            <a:ext cx="2800424" cy="312973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0"/>
          <p:cNvSpPr txBox="1"/>
          <p:nvPr/>
        </p:nvSpPr>
        <p:spPr>
          <a:xfrm>
            <a:off x="411491" y="1519981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Token Sequence Generator</a:t>
            </a:r>
            <a:endParaRPr sz="1100"/>
          </a:p>
        </p:txBody>
      </p:sp>
      <p:sp>
        <p:nvSpPr>
          <p:cNvPr id="614" name="Google Shape;614;p50"/>
          <p:cNvSpPr/>
          <p:nvPr/>
        </p:nvSpPr>
        <p:spPr>
          <a:xfrm>
            <a:off x="3177625" y="1499407"/>
            <a:ext cx="2800424" cy="312973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0"/>
          <p:cNvSpPr txBox="1"/>
          <p:nvPr/>
        </p:nvSpPr>
        <p:spPr>
          <a:xfrm>
            <a:off x="3211915" y="1519981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16" name="Google Shape;616;p50"/>
          <p:cNvSpPr/>
          <p:nvPr/>
        </p:nvSpPr>
        <p:spPr>
          <a:xfrm>
            <a:off x="5978049" y="1499407"/>
            <a:ext cx="2800424" cy="312973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0"/>
          <p:cNvSpPr txBox="1"/>
          <p:nvPr/>
        </p:nvSpPr>
        <p:spPr>
          <a:xfrm>
            <a:off x="6012340" y="1519981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Atomic A101, A102...</a:t>
            </a:r>
            <a:endParaRPr sz="1100"/>
          </a:p>
        </p:txBody>
      </p:sp>
      <p:sp>
        <p:nvSpPr>
          <p:cNvPr id="618" name="Google Shape;618;p50"/>
          <p:cNvSpPr/>
          <p:nvPr/>
        </p:nvSpPr>
        <p:spPr>
          <a:xfrm>
            <a:off x="377200" y="1812382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0"/>
          <p:cNvSpPr txBox="1"/>
          <p:nvPr/>
        </p:nvSpPr>
        <p:spPr>
          <a:xfrm>
            <a:off x="411491" y="1832956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Real-Time Socket Sync</a:t>
            </a:r>
            <a:endParaRPr sz="1100"/>
          </a:p>
        </p:txBody>
      </p:sp>
      <p:sp>
        <p:nvSpPr>
          <p:cNvPr id="620" name="Google Shape;620;p50"/>
          <p:cNvSpPr/>
          <p:nvPr/>
        </p:nvSpPr>
        <p:spPr>
          <a:xfrm>
            <a:off x="3177625" y="1812382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3211915" y="1832956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22" name="Google Shape;622;p50"/>
          <p:cNvSpPr/>
          <p:nvPr/>
        </p:nvSpPr>
        <p:spPr>
          <a:xfrm>
            <a:off x="5978049" y="1812382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0"/>
          <p:cNvSpPr txBox="1"/>
          <p:nvPr/>
        </p:nvSpPr>
        <p:spPr>
          <a:xfrm>
            <a:off x="6012340" y="1832956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Live mobile + desktop updates</a:t>
            </a:r>
            <a:endParaRPr sz="1100"/>
          </a:p>
        </p:txBody>
      </p:sp>
      <p:sp>
        <p:nvSpPr>
          <p:cNvPr id="624" name="Google Shape;624;p50"/>
          <p:cNvSpPr/>
          <p:nvPr/>
        </p:nvSpPr>
        <p:spPr>
          <a:xfrm>
            <a:off x="377200" y="2125356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0"/>
          <p:cNvSpPr txBox="1"/>
          <p:nvPr/>
        </p:nvSpPr>
        <p:spPr>
          <a:xfrm>
            <a:off x="411491" y="2145930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Staff Dashboard &amp; Actions</a:t>
            </a:r>
            <a:endParaRPr sz="1100"/>
          </a:p>
        </p:txBody>
      </p:sp>
      <p:sp>
        <p:nvSpPr>
          <p:cNvPr id="626" name="Google Shape;626;p50"/>
          <p:cNvSpPr/>
          <p:nvPr/>
        </p:nvSpPr>
        <p:spPr>
          <a:xfrm>
            <a:off x="3177625" y="2125356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50"/>
          <p:cNvSpPr txBox="1"/>
          <p:nvPr/>
        </p:nvSpPr>
        <p:spPr>
          <a:xfrm>
            <a:off x="3211915" y="2145930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28" name="Google Shape;628;p50"/>
          <p:cNvSpPr/>
          <p:nvPr/>
        </p:nvSpPr>
        <p:spPr>
          <a:xfrm>
            <a:off x="5978049" y="2125356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0"/>
          <p:cNvSpPr txBox="1"/>
          <p:nvPr/>
        </p:nvSpPr>
        <p:spPr>
          <a:xfrm>
            <a:off x="6012340" y="2145930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Call, Start, Complete, Skip, Transfer</a:t>
            </a:r>
            <a:endParaRPr sz="1100"/>
          </a:p>
        </p:txBody>
      </p:sp>
      <p:sp>
        <p:nvSpPr>
          <p:cNvPr id="630" name="Google Shape;630;p50"/>
          <p:cNvSpPr/>
          <p:nvPr/>
        </p:nvSpPr>
        <p:spPr>
          <a:xfrm>
            <a:off x="377200" y="2438330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0"/>
          <p:cNvSpPr txBox="1"/>
          <p:nvPr/>
        </p:nvSpPr>
        <p:spPr>
          <a:xfrm>
            <a:off x="411491" y="2458904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Counter Management</a:t>
            </a:r>
            <a:endParaRPr sz="1100"/>
          </a:p>
        </p:txBody>
      </p:sp>
      <p:sp>
        <p:nvSpPr>
          <p:cNvPr id="632" name="Google Shape;632;p50"/>
          <p:cNvSpPr/>
          <p:nvPr/>
        </p:nvSpPr>
        <p:spPr>
          <a:xfrm>
            <a:off x="3177625" y="2438330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0"/>
          <p:cNvSpPr txBox="1"/>
          <p:nvPr/>
        </p:nvSpPr>
        <p:spPr>
          <a:xfrm>
            <a:off x="3211915" y="2458904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34" name="Google Shape;634;p50"/>
          <p:cNvSpPr/>
          <p:nvPr/>
        </p:nvSpPr>
        <p:spPr>
          <a:xfrm>
            <a:off x="5978049" y="2438330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0"/>
          <p:cNvSpPr txBox="1"/>
          <p:nvPr/>
        </p:nvSpPr>
        <p:spPr>
          <a:xfrm>
            <a:off x="6012340" y="2458904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Create, activate, deactivate</a:t>
            </a:r>
            <a:endParaRPr sz="1100"/>
          </a:p>
        </p:txBody>
      </p:sp>
      <p:sp>
        <p:nvSpPr>
          <p:cNvPr id="636" name="Google Shape;636;p50"/>
          <p:cNvSpPr/>
          <p:nvPr/>
        </p:nvSpPr>
        <p:spPr>
          <a:xfrm>
            <a:off x="377200" y="2751305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50"/>
          <p:cNvSpPr txBox="1"/>
          <p:nvPr/>
        </p:nvSpPr>
        <p:spPr>
          <a:xfrm>
            <a:off x="411491" y="2771878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Service Management</a:t>
            </a:r>
            <a:endParaRPr sz="1100"/>
          </a:p>
        </p:txBody>
      </p:sp>
      <p:sp>
        <p:nvSpPr>
          <p:cNvPr id="638" name="Google Shape;638;p50"/>
          <p:cNvSpPr/>
          <p:nvPr/>
        </p:nvSpPr>
        <p:spPr>
          <a:xfrm>
            <a:off x="3177625" y="2751305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50"/>
          <p:cNvSpPr txBox="1"/>
          <p:nvPr/>
        </p:nvSpPr>
        <p:spPr>
          <a:xfrm>
            <a:off x="3211915" y="2771878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40" name="Google Shape;640;p50"/>
          <p:cNvSpPr/>
          <p:nvPr/>
        </p:nvSpPr>
        <p:spPr>
          <a:xfrm>
            <a:off x="5978049" y="2751305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0"/>
          <p:cNvSpPr txBox="1"/>
          <p:nvPr/>
        </p:nvSpPr>
        <p:spPr>
          <a:xfrm>
            <a:off x="6012340" y="2771878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Create, update, deactivate</a:t>
            </a:r>
            <a:endParaRPr sz="1100"/>
          </a:p>
        </p:txBody>
      </p:sp>
      <p:sp>
        <p:nvSpPr>
          <p:cNvPr id="642" name="Google Shape;642;p50"/>
          <p:cNvSpPr/>
          <p:nvPr/>
        </p:nvSpPr>
        <p:spPr>
          <a:xfrm>
            <a:off x="377200" y="3064279"/>
            <a:ext cx="2800424" cy="3129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0"/>
          <p:cNvSpPr txBox="1"/>
          <p:nvPr/>
        </p:nvSpPr>
        <p:spPr>
          <a:xfrm>
            <a:off x="411491" y="3084853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AI Prediction</a:t>
            </a:r>
            <a:endParaRPr sz="1100"/>
          </a:p>
        </p:txBody>
      </p:sp>
      <p:sp>
        <p:nvSpPr>
          <p:cNvPr id="644" name="Google Shape;644;p50"/>
          <p:cNvSpPr/>
          <p:nvPr/>
        </p:nvSpPr>
        <p:spPr>
          <a:xfrm>
            <a:off x="3177625" y="3064279"/>
            <a:ext cx="2800424" cy="3129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0"/>
          <p:cNvSpPr txBox="1"/>
          <p:nvPr/>
        </p:nvSpPr>
        <p:spPr>
          <a:xfrm>
            <a:off x="3211915" y="3084853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46" name="Google Shape;646;p50"/>
          <p:cNvSpPr/>
          <p:nvPr/>
        </p:nvSpPr>
        <p:spPr>
          <a:xfrm>
            <a:off x="5978049" y="3064279"/>
            <a:ext cx="2800424" cy="3129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0"/>
          <p:cNvSpPr txBox="1"/>
          <p:nvPr/>
        </p:nvSpPr>
        <p:spPr>
          <a:xfrm>
            <a:off x="6012340" y="3084853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500-record weighted regression</a:t>
            </a:r>
            <a:endParaRPr sz="1100"/>
          </a:p>
        </p:txBody>
      </p:sp>
      <p:sp>
        <p:nvSpPr>
          <p:cNvPr id="648" name="Google Shape;648;p50"/>
          <p:cNvSpPr/>
          <p:nvPr/>
        </p:nvSpPr>
        <p:spPr>
          <a:xfrm>
            <a:off x="377200" y="3377253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0"/>
          <p:cNvSpPr txBox="1"/>
          <p:nvPr/>
        </p:nvSpPr>
        <p:spPr>
          <a:xfrm>
            <a:off x="411491" y="3397827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Counter Recommendation</a:t>
            </a:r>
            <a:endParaRPr sz="1100"/>
          </a:p>
        </p:txBody>
      </p:sp>
      <p:sp>
        <p:nvSpPr>
          <p:cNvPr id="650" name="Google Shape;650;p50"/>
          <p:cNvSpPr/>
          <p:nvPr/>
        </p:nvSpPr>
        <p:spPr>
          <a:xfrm>
            <a:off x="3177625" y="3377253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0"/>
          <p:cNvSpPr txBox="1"/>
          <p:nvPr/>
        </p:nvSpPr>
        <p:spPr>
          <a:xfrm>
            <a:off x="3211915" y="3397827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52" name="Google Shape;652;p50"/>
          <p:cNvSpPr/>
          <p:nvPr/>
        </p:nvSpPr>
        <p:spPr>
          <a:xfrm>
            <a:off x="5978049" y="3377253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0"/>
          <p:cNvSpPr txBox="1"/>
          <p:nvPr/>
        </p:nvSpPr>
        <p:spPr>
          <a:xfrm>
            <a:off x="6012340" y="3397827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Dynamic workload scoring</a:t>
            </a:r>
            <a:endParaRPr sz="1100"/>
          </a:p>
        </p:txBody>
      </p:sp>
      <p:sp>
        <p:nvSpPr>
          <p:cNvPr id="654" name="Google Shape;654;p50"/>
          <p:cNvSpPr/>
          <p:nvPr/>
        </p:nvSpPr>
        <p:spPr>
          <a:xfrm>
            <a:off x="377200" y="3690227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0"/>
          <p:cNvSpPr txBox="1"/>
          <p:nvPr/>
        </p:nvSpPr>
        <p:spPr>
          <a:xfrm>
            <a:off x="411491" y="3710801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MongoDB Analytics</a:t>
            </a:r>
            <a:endParaRPr sz="1100"/>
          </a:p>
        </p:txBody>
      </p:sp>
      <p:sp>
        <p:nvSpPr>
          <p:cNvPr id="656" name="Google Shape;656;p50"/>
          <p:cNvSpPr/>
          <p:nvPr/>
        </p:nvSpPr>
        <p:spPr>
          <a:xfrm>
            <a:off x="3177625" y="3690227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0"/>
          <p:cNvSpPr txBox="1"/>
          <p:nvPr/>
        </p:nvSpPr>
        <p:spPr>
          <a:xfrm>
            <a:off x="3211915" y="3710801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58" name="Google Shape;658;p50"/>
          <p:cNvSpPr/>
          <p:nvPr/>
        </p:nvSpPr>
        <p:spPr>
          <a:xfrm>
            <a:off x="5978049" y="3690227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0"/>
          <p:cNvSpPr txBox="1"/>
          <p:nvPr/>
        </p:nvSpPr>
        <p:spPr>
          <a:xfrm>
            <a:off x="6012340" y="3710801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Aggregation-based charts</a:t>
            </a:r>
            <a:endParaRPr sz="1100"/>
          </a:p>
        </p:txBody>
      </p:sp>
      <p:sp>
        <p:nvSpPr>
          <p:cNvPr id="660" name="Google Shape;660;p50"/>
          <p:cNvSpPr/>
          <p:nvPr/>
        </p:nvSpPr>
        <p:spPr>
          <a:xfrm>
            <a:off x="377200" y="4003202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0"/>
          <p:cNvSpPr txBox="1"/>
          <p:nvPr/>
        </p:nvSpPr>
        <p:spPr>
          <a:xfrm>
            <a:off x="411491" y="4023776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Physical QR Generator</a:t>
            </a:r>
            <a:endParaRPr sz="1100"/>
          </a:p>
        </p:txBody>
      </p:sp>
      <p:sp>
        <p:nvSpPr>
          <p:cNvPr id="662" name="Google Shape;662;p50"/>
          <p:cNvSpPr/>
          <p:nvPr/>
        </p:nvSpPr>
        <p:spPr>
          <a:xfrm>
            <a:off x="3177625" y="4003202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50"/>
          <p:cNvSpPr txBox="1"/>
          <p:nvPr/>
        </p:nvSpPr>
        <p:spPr>
          <a:xfrm>
            <a:off x="3211915" y="4023776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64" name="Google Shape;664;p50"/>
          <p:cNvSpPr/>
          <p:nvPr/>
        </p:nvSpPr>
        <p:spPr>
          <a:xfrm>
            <a:off x="5978049" y="4003202"/>
            <a:ext cx="2800424" cy="312974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0"/>
          <p:cNvSpPr txBox="1"/>
          <p:nvPr/>
        </p:nvSpPr>
        <p:spPr>
          <a:xfrm>
            <a:off x="6012340" y="4023776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PNG, SVG and A4 poster</a:t>
            </a:r>
            <a:endParaRPr sz="1100"/>
          </a:p>
        </p:txBody>
      </p:sp>
      <p:sp>
        <p:nvSpPr>
          <p:cNvPr id="666" name="Google Shape;666;p50"/>
          <p:cNvSpPr/>
          <p:nvPr/>
        </p:nvSpPr>
        <p:spPr>
          <a:xfrm>
            <a:off x="377200" y="4316176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0"/>
          <p:cNvSpPr txBox="1"/>
          <p:nvPr/>
        </p:nvSpPr>
        <p:spPr>
          <a:xfrm>
            <a:off x="411491" y="4336750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Authentication &amp; RBAC</a:t>
            </a:r>
            <a:endParaRPr sz="1100"/>
          </a:p>
        </p:txBody>
      </p:sp>
      <p:sp>
        <p:nvSpPr>
          <p:cNvPr id="668" name="Google Shape;668;p50"/>
          <p:cNvSpPr/>
          <p:nvPr/>
        </p:nvSpPr>
        <p:spPr>
          <a:xfrm>
            <a:off x="3177625" y="4316176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0"/>
          <p:cNvSpPr txBox="1"/>
          <p:nvPr/>
        </p:nvSpPr>
        <p:spPr>
          <a:xfrm>
            <a:off x="3211915" y="4336750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100"/>
          </a:p>
        </p:txBody>
      </p:sp>
      <p:sp>
        <p:nvSpPr>
          <p:cNvPr id="670" name="Google Shape;670;p50"/>
          <p:cNvSpPr/>
          <p:nvPr/>
        </p:nvSpPr>
        <p:spPr>
          <a:xfrm>
            <a:off x="5978049" y="4316176"/>
            <a:ext cx="2800424" cy="31297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50"/>
          <p:cNvSpPr txBox="1"/>
          <p:nvPr/>
        </p:nvSpPr>
        <p:spPr>
          <a:xfrm>
            <a:off x="6012340" y="4336750"/>
            <a:ext cx="2731842" cy="27868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JWT + password hashing</a:t>
            </a:r>
            <a:endParaRPr sz="1100"/>
          </a:p>
        </p:txBody>
      </p:sp>
      <p:sp>
        <p:nvSpPr>
          <p:cNvPr id="672" name="Google Shape;672;p50"/>
          <p:cNvSpPr txBox="1"/>
          <p:nvPr/>
        </p:nvSpPr>
        <p:spPr>
          <a:xfrm>
            <a:off x="548655" y="4608576"/>
            <a:ext cx="8024074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Overall: 100% of the defined Review 1 scope is operational.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1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100"/>
          </a:p>
        </p:txBody>
      </p:sp>
      <p:sp>
        <p:nvSpPr>
          <p:cNvPr id="679" name="Google Shape;679;p51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pic>
        <p:nvPicPr>
          <p:cNvPr id="680" name="Google Shape;680;p51" title="dash.png"/>
          <p:cNvPicPr preferRelativeResize="0"/>
          <p:nvPr/>
        </p:nvPicPr>
        <p:blipFill rotWithShape="1">
          <a:blip r:embed="rId3">
            <a:alphaModFix/>
          </a:blip>
          <a:srcRect b="4343" l="0" r="0" t="0"/>
          <a:stretch/>
        </p:blipFill>
        <p:spPr>
          <a:xfrm>
            <a:off x="575317" y="1469814"/>
            <a:ext cx="6059348" cy="27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51" title="login.png"/>
          <p:cNvPicPr preferRelativeResize="0"/>
          <p:nvPr/>
        </p:nvPicPr>
        <p:blipFill rotWithShape="1">
          <a:blip r:embed="rId4">
            <a:alphaModFix/>
          </a:blip>
          <a:srcRect b="6487" l="15379" r="17753" t="6443"/>
          <a:stretch/>
        </p:blipFill>
        <p:spPr>
          <a:xfrm>
            <a:off x="6945467" y="275852"/>
            <a:ext cx="1596824" cy="23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1" title="qr.png"/>
          <p:cNvPicPr preferRelativeResize="0"/>
          <p:nvPr/>
        </p:nvPicPr>
        <p:blipFill rotWithShape="1">
          <a:blip r:embed="rId5">
            <a:alphaModFix/>
          </a:blip>
          <a:srcRect b="13761" l="16649" r="16219" t="17402"/>
          <a:stretch/>
        </p:blipFill>
        <p:spPr>
          <a:xfrm>
            <a:off x="6945467" y="2732213"/>
            <a:ext cx="1596824" cy="213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2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2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Challenges Faced &amp; Solutions</a:t>
            </a:r>
            <a:endParaRPr sz="1100"/>
          </a:p>
        </p:txBody>
      </p:sp>
      <p:sp>
        <p:nvSpPr>
          <p:cNvPr id="689" name="Google Shape;689;p52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100"/>
          </a:p>
        </p:txBody>
      </p:sp>
      <p:sp>
        <p:nvSpPr>
          <p:cNvPr id="690" name="Google Shape;690;p52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691" name="Google Shape;691;p52"/>
          <p:cNvSpPr/>
          <p:nvPr/>
        </p:nvSpPr>
        <p:spPr>
          <a:xfrm>
            <a:off x="342909" y="822960"/>
            <a:ext cx="4217782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2"/>
          <p:cNvSpPr txBox="1"/>
          <p:nvPr/>
        </p:nvSpPr>
        <p:spPr>
          <a:xfrm>
            <a:off x="377200" y="870966"/>
            <a:ext cx="414920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endParaRPr sz="1100"/>
          </a:p>
        </p:txBody>
      </p:sp>
      <p:sp>
        <p:nvSpPr>
          <p:cNvPr id="693" name="Google Shape;693;p52"/>
          <p:cNvSpPr/>
          <p:nvPr/>
        </p:nvSpPr>
        <p:spPr>
          <a:xfrm>
            <a:off x="4560692" y="822960"/>
            <a:ext cx="4217782" cy="329184"/>
          </a:xfrm>
          <a:prstGeom prst="rect">
            <a:avLst/>
          </a:prstGeom>
          <a:solidFill>
            <a:srgbClr val="374F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52"/>
          <p:cNvSpPr txBox="1"/>
          <p:nvPr/>
        </p:nvSpPr>
        <p:spPr>
          <a:xfrm>
            <a:off x="4594982" y="870966"/>
            <a:ext cx="414920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100"/>
          </a:p>
        </p:txBody>
      </p:sp>
      <p:sp>
        <p:nvSpPr>
          <p:cNvPr id="695" name="Google Shape;695;p52"/>
          <p:cNvSpPr/>
          <p:nvPr/>
        </p:nvSpPr>
        <p:spPr>
          <a:xfrm>
            <a:off x="342909" y="1152144"/>
            <a:ext cx="4217782" cy="7228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2"/>
          <p:cNvSpPr txBox="1"/>
          <p:nvPr/>
        </p:nvSpPr>
        <p:spPr>
          <a:xfrm>
            <a:off x="377200" y="1172718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Phone could not directly reach backend</a:t>
            </a:r>
            <a:endParaRPr sz="1100"/>
          </a:p>
        </p:txBody>
      </p:sp>
      <p:sp>
        <p:nvSpPr>
          <p:cNvPr id="697" name="Google Shape;697;p52"/>
          <p:cNvSpPr/>
          <p:nvPr/>
        </p:nvSpPr>
        <p:spPr>
          <a:xfrm>
            <a:off x="4560692" y="1152144"/>
            <a:ext cx="4217782" cy="7228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2"/>
          <p:cNvSpPr txBox="1"/>
          <p:nvPr/>
        </p:nvSpPr>
        <p:spPr>
          <a:xfrm>
            <a:off x="4594982" y="1172718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Vite reverse proxy forwards /api and /socket.io on the LAN-facing port.</a:t>
            </a:r>
            <a:endParaRPr sz="1100"/>
          </a:p>
        </p:txBody>
      </p:sp>
      <p:sp>
        <p:nvSpPr>
          <p:cNvPr id="699" name="Google Shape;699;p52"/>
          <p:cNvSpPr/>
          <p:nvPr/>
        </p:nvSpPr>
        <p:spPr>
          <a:xfrm>
            <a:off x="342909" y="1874977"/>
            <a:ext cx="4217782" cy="722833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2"/>
          <p:cNvSpPr txBox="1"/>
          <p:nvPr/>
        </p:nvSpPr>
        <p:spPr>
          <a:xfrm>
            <a:off x="377200" y="1895551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Wrong LAN IP from virtual adapters</a:t>
            </a:r>
            <a:endParaRPr sz="1100"/>
          </a:p>
        </p:txBody>
      </p:sp>
      <p:sp>
        <p:nvSpPr>
          <p:cNvPr id="701" name="Google Shape;701;p52"/>
          <p:cNvSpPr/>
          <p:nvPr/>
        </p:nvSpPr>
        <p:spPr>
          <a:xfrm>
            <a:off x="4560692" y="1874977"/>
            <a:ext cx="4217782" cy="722833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2"/>
          <p:cNvSpPr txBox="1"/>
          <p:nvPr/>
        </p:nvSpPr>
        <p:spPr>
          <a:xfrm>
            <a:off x="4594982" y="1895551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Filter virtual / WSL / loopback adapters and prioritize Wi-Fi/Ethernet.</a:t>
            </a:r>
            <a:endParaRPr sz="1100"/>
          </a:p>
        </p:txBody>
      </p:sp>
      <p:sp>
        <p:nvSpPr>
          <p:cNvPr id="703" name="Google Shape;703;p52"/>
          <p:cNvSpPr/>
          <p:nvPr/>
        </p:nvSpPr>
        <p:spPr>
          <a:xfrm>
            <a:off x="342909" y="2597810"/>
            <a:ext cx="4217782" cy="7228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2"/>
          <p:cNvSpPr txBox="1"/>
          <p:nvPr/>
        </p:nvSpPr>
        <p:spPr>
          <a:xfrm>
            <a:off x="377200" y="2618384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MongoDB standalone did not support transactions</a:t>
            </a:r>
            <a:endParaRPr sz="1100"/>
          </a:p>
        </p:txBody>
      </p:sp>
      <p:sp>
        <p:nvSpPr>
          <p:cNvPr id="705" name="Google Shape;705;p52"/>
          <p:cNvSpPr/>
          <p:nvPr/>
        </p:nvSpPr>
        <p:spPr>
          <a:xfrm>
            <a:off x="4560692" y="2597810"/>
            <a:ext cx="4217782" cy="7228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2"/>
          <p:cNvSpPr txBox="1"/>
          <p:nvPr/>
        </p:nvSpPr>
        <p:spPr>
          <a:xfrm>
            <a:off x="4594982" y="2618384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Use atomic findOneAndUpdate checks for safe token claiming.</a:t>
            </a:r>
            <a:endParaRPr sz="1100"/>
          </a:p>
        </p:txBody>
      </p:sp>
      <p:sp>
        <p:nvSpPr>
          <p:cNvPr id="707" name="Google Shape;707;p52"/>
          <p:cNvSpPr/>
          <p:nvPr/>
        </p:nvSpPr>
        <p:spPr>
          <a:xfrm>
            <a:off x="342909" y="3320643"/>
            <a:ext cx="4217782" cy="722833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2"/>
          <p:cNvSpPr txBox="1"/>
          <p:nvPr/>
        </p:nvSpPr>
        <p:spPr>
          <a:xfrm>
            <a:off x="377200" y="3341217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Concurrent bookings could duplicate tokens</a:t>
            </a:r>
            <a:endParaRPr sz="1100"/>
          </a:p>
        </p:txBody>
      </p:sp>
      <p:sp>
        <p:nvSpPr>
          <p:cNvPr id="709" name="Google Shape;709;p52"/>
          <p:cNvSpPr/>
          <p:nvPr/>
        </p:nvSpPr>
        <p:spPr>
          <a:xfrm>
            <a:off x="4560692" y="3320643"/>
            <a:ext cx="4217782" cy="722833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2"/>
          <p:cNvSpPr txBox="1"/>
          <p:nvPr/>
        </p:nvSpPr>
        <p:spPr>
          <a:xfrm>
            <a:off x="4594982" y="3341217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Scan stored token numbers atomically before incrementing.</a:t>
            </a:r>
            <a:endParaRPr sz="1100"/>
          </a:p>
        </p:txBody>
      </p:sp>
      <p:sp>
        <p:nvSpPr>
          <p:cNvPr id="711" name="Google Shape;711;p52"/>
          <p:cNvSpPr/>
          <p:nvPr/>
        </p:nvSpPr>
        <p:spPr>
          <a:xfrm>
            <a:off x="342909" y="4043477"/>
            <a:ext cx="4217782" cy="7228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52"/>
          <p:cNvSpPr txBox="1"/>
          <p:nvPr/>
        </p:nvSpPr>
        <p:spPr>
          <a:xfrm>
            <a:off x="377200" y="4064051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Socket events could be missed after reconnect</a:t>
            </a:r>
            <a:endParaRPr sz="1100"/>
          </a:p>
        </p:txBody>
      </p:sp>
      <p:sp>
        <p:nvSpPr>
          <p:cNvPr id="713" name="Google Shape;713;p52"/>
          <p:cNvSpPr/>
          <p:nvPr/>
        </p:nvSpPr>
        <p:spPr>
          <a:xfrm>
            <a:off x="4560692" y="4043477"/>
            <a:ext cx="4217782" cy="7228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2"/>
          <p:cNvSpPr txBox="1"/>
          <p:nvPr/>
        </p:nvSpPr>
        <p:spPr>
          <a:xfrm>
            <a:off x="4594982" y="4064051"/>
            <a:ext cx="4149201" cy="68854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Customer screens refetch current state when Socket.IO reconnects.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3"/>
          <p:cNvSpPr/>
          <p:nvPr/>
        </p:nvSpPr>
        <p:spPr>
          <a:xfrm>
            <a:off x="377200" y="288036"/>
            <a:ext cx="54865" cy="425196"/>
          </a:xfrm>
          <a:prstGeom prst="rect">
            <a:avLst/>
          </a:prstGeom>
          <a:solidFill>
            <a:srgbClr val="374F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3"/>
          <p:cNvSpPr txBox="1"/>
          <p:nvPr/>
        </p:nvSpPr>
        <p:spPr>
          <a:xfrm>
            <a:off x="548655" y="233172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Remaining Work &amp; References</a:t>
            </a:r>
            <a:endParaRPr sz="1100"/>
          </a:p>
        </p:txBody>
      </p:sp>
      <p:sp>
        <p:nvSpPr>
          <p:cNvPr id="721" name="Google Shape;721;p53"/>
          <p:cNvSpPr txBox="1"/>
          <p:nvPr/>
        </p:nvSpPr>
        <p:spPr>
          <a:xfrm>
            <a:off x="8264110" y="322326"/>
            <a:ext cx="377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100"/>
          </a:p>
        </p:txBody>
      </p:sp>
      <p:sp>
        <p:nvSpPr>
          <p:cNvPr id="722" name="Google Shape;722;p53"/>
          <p:cNvSpPr txBox="1"/>
          <p:nvPr/>
        </p:nvSpPr>
        <p:spPr>
          <a:xfrm>
            <a:off x="548655" y="4828032"/>
            <a:ext cx="78869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723" name="Google Shape;723;p53"/>
          <p:cNvSpPr/>
          <p:nvPr/>
        </p:nvSpPr>
        <p:spPr>
          <a:xfrm>
            <a:off x="445782" y="822960"/>
            <a:ext cx="4012037" cy="377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3"/>
          <p:cNvSpPr txBox="1"/>
          <p:nvPr/>
        </p:nvSpPr>
        <p:spPr>
          <a:xfrm>
            <a:off x="617236" y="946404"/>
            <a:ext cx="366912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Remaining Work</a:t>
            </a:r>
            <a:endParaRPr sz="1100"/>
          </a:p>
        </p:txBody>
      </p:sp>
      <p:sp>
        <p:nvSpPr>
          <p:cNvPr id="725" name="Google Shape;725;p53"/>
          <p:cNvSpPr txBox="1"/>
          <p:nvPr/>
        </p:nvSpPr>
        <p:spPr>
          <a:xfrm>
            <a:off x="617236" y="1303020"/>
            <a:ext cx="3669128" cy="318897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Public TV queue display with audio announcements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Automated Jest + Supertest testing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Docker deployment setup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Future: SMS / WhatsApp notifications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Future: real-world ML training data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Future: multi-branch support and PWA features</a:t>
            </a:r>
            <a:endParaRPr sz="1100"/>
          </a:p>
        </p:txBody>
      </p:sp>
      <p:sp>
        <p:nvSpPr>
          <p:cNvPr id="726" name="Google Shape;726;p53"/>
          <p:cNvSpPr/>
          <p:nvPr/>
        </p:nvSpPr>
        <p:spPr>
          <a:xfrm>
            <a:off x="4629273" y="822960"/>
            <a:ext cx="4012037" cy="377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0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3"/>
          <p:cNvSpPr txBox="1"/>
          <p:nvPr/>
        </p:nvSpPr>
        <p:spPr>
          <a:xfrm>
            <a:off x="4800728" y="946404"/>
            <a:ext cx="366912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74FAA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1100"/>
          </a:p>
        </p:txBody>
      </p:sp>
      <p:sp>
        <p:nvSpPr>
          <p:cNvPr id="728" name="Google Shape;728;p53"/>
          <p:cNvSpPr txBox="1"/>
          <p:nvPr/>
        </p:nvSpPr>
        <p:spPr>
          <a:xfrm>
            <a:off x="4800728" y="1303020"/>
            <a:ext cx="3669128" cy="318897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React Documentation — react.dev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Socket.IO Documentation — socket.io/docs/v4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Express.js Documentation — expressjs.com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Mongoose / MongoDB Documentation — mongoosejs.com/docs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Tailwind CSS Documentation — tailwindcss.com/docs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Vite Documentation — vitejs.dev/config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026"/>
                </a:solidFill>
                <a:latin typeface="Arial"/>
                <a:ea typeface="Arial"/>
                <a:cs typeface="Arial"/>
                <a:sym typeface="Arial"/>
              </a:rPr>
              <a:t>• Review 0 literature references — retain the original submitted sources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/>
          <p:nvPr/>
        </p:nvSpPr>
        <p:spPr>
          <a:xfrm>
            <a:off x="2149150" y="1475670"/>
            <a:ext cx="5070600" cy="1961100"/>
          </a:xfrm>
          <a:prstGeom prst="rect">
            <a:avLst/>
          </a:prstGeom>
          <a:solidFill>
            <a:srgbClr val="DCE0E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4"/>
          <p:cNvSpPr txBox="1"/>
          <p:nvPr/>
        </p:nvSpPr>
        <p:spPr>
          <a:xfrm>
            <a:off x="8264110" y="322326"/>
            <a:ext cx="377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100"/>
          </a:p>
        </p:txBody>
      </p:sp>
      <p:sp>
        <p:nvSpPr>
          <p:cNvPr id="735" name="Google Shape;735;p54"/>
          <p:cNvSpPr txBox="1"/>
          <p:nvPr/>
        </p:nvSpPr>
        <p:spPr>
          <a:xfrm>
            <a:off x="548655" y="4828032"/>
            <a:ext cx="7887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QFlow  •  Review 1  •  MERN Stack Project</a:t>
            </a:r>
            <a:endParaRPr sz="1100"/>
          </a:p>
        </p:txBody>
      </p:sp>
      <p:sp>
        <p:nvSpPr>
          <p:cNvPr id="736" name="Google Shape;736;p54"/>
          <p:cNvSpPr txBox="1"/>
          <p:nvPr/>
        </p:nvSpPr>
        <p:spPr>
          <a:xfrm>
            <a:off x="2528541" y="2179182"/>
            <a:ext cx="387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 THANK YOU</a:t>
            </a:r>
            <a:endParaRPr sz="24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